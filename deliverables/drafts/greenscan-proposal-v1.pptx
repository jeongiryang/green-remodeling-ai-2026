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77383d1fee431f" /><Relationship Type="http://schemas.openxmlformats.org/officeDocument/2006/relationships/extended-properties" Target="/docProps/app.xml" Id="R9f7e97fbedde4760" /><Relationship Type="http://schemas.openxmlformats.org/officeDocument/2006/relationships/officeDocument" Target="/ppt/presentation.xml" Id="R7e545763339543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23f46bd96b4dd5"/>
  </p:sldMasterIdLst>
  <p:notesMasterIdLst>
    <p:notesMasterId xmlns:r="http://schemas.openxmlformats.org/officeDocument/2006/relationships" r:id="Rb8c522ae43bd438d"/>
  </p:notesMasterIdLst>
  <p:sldIdLst>
    <p:sldId xmlns:r="http://schemas.openxmlformats.org/officeDocument/2006/relationships" id="256" r:id="Rbb9d035eb4744904"/>
    <p:sldId xmlns:r="http://schemas.openxmlformats.org/officeDocument/2006/relationships" id="257" r:id="R4089e75eaf6848e9"/>
    <p:sldId xmlns:r="http://schemas.openxmlformats.org/officeDocument/2006/relationships" id="258" r:id="Rc6884811dd8e4df3"/>
    <p:sldId xmlns:r="http://schemas.openxmlformats.org/officeDocument/2006/relationships" id="259" r:id="R88d6e57896e94ba4"/>
    <p:sldId xmlns:r="http://schemas.openxmlformats.org/officeDocument/2006/relationships" id="260" r:id="R7da608962ec749dc"/>
    <p:sldId xmlns:r="http://schemas.openxmlformats.org/officeDocument/2006/relationships" id="261" r:id="Ra98ecb8e8cfd499b"/>
    <p:sldId xmlns:r="http://schemas.openxmlformats.org/officeDocument/2006/relationships" id="262" r:id="Rae585abf654d4e1a"/>
    <p:sldId xmlns:r="http://schemas.openxmlformats.org/officeDocument/2006/relationships" id="263" r:id="R609e44d70d0c4b2b"/>
    <p:sldId xmlns:r="http://schemas.openxmlformats.org/officeDocument/2006/relationships" id="264" r:id="R6e49b25703e348d3"/>
    <p:sldId xmlns:r="http://schemas.openxmlformats.org/officeDocument/2006/relationships" id="265" r:id="R8235c5a344304581"/>
    <p:sldId xmlns:r="http://schemas.openxmlformats.org/officeDocument/2006/relationships" id="266" r:id="R570d8c119e18490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46cf7263af4867" /><Relationship Type="http://schemas.openxmlformats.org/officeDocument/2006/relationships/slideMaster" Target="/ppt/slideMasters/slideMaster1.xml" Id="R5b23f46bd96b4dd5" /><Relationship Type="http://schemas.openxmlformats.org/officeDocument/2006/relationships/notesMaster" Target="/ppt/notesMasters/notesMaster1.xml" Id="Rb8c522ae43bd438d" /><Relationship Type="http://schemas.openxmlformats.org/officeDocument/2006/relationships/presProps" Target="/ppt/presProps.xml" Id="R011d44d754bd43aa" /><Relationship Type="http://schemas.openxmlformats.org/officeDocument/2006/relationships/tableStyles" Target="/ppt/tableStyles.xml" Id="R5f98b28eaa2c4e71" /><Relationship Type="http://schemas.openxmlformats.org/officeDocument/2006/relationships/slide" Target="/ppt/slides/slide1.xml" Id="Rbb9d035eb4744904" /><Relationship Type="http://schemas.openxmlformats.org/officeDocument/2006/relationships/slide" Target="/ppt/slides/slide2.xml" Id="R4089e75eaf6848e9" /><Relationship Type="http://schemas.openxmlformats.org/officeDocument/2006/relationships/slide" Target="/ppt/slides/slide3.xml" Id="Rc6884811dd8e4df3" /><Relationship Type="http://schemas.openxmlformats.org/officeDocument/2006/relationships/slide" Target="/ppt/slides/slide4.xml" Id="R88d6e57896e94ba4" /><Relationship Type="http://schemas.openxmlformats.org/officeDocument/2006/relationships/slide" Target="/ppt/slides/slide5.xml" Id="R7da608962ec749dc" /><Relationship Type="http://schemas.openxmlformats.org/officeDocument/2006/relationships/slide" Target="/ppt/slides/slide6.xml" Id="Ra98ecb8e8cfd499b" /><Relationship Type="http://schemas.openxmlformats.org/officeDocument/2006/relationships/slide" Target="/ppt/slides/slide7.xml" Id="Rae585abf654d4e1a" /><Relationship Type="http://schemas.openxmlformats.org/officeDocument/2006/relationships/slide" Target="/ppt/slides/slide8.xml" Id="R609e44d70d0c4b2b" /><Relationship Type="http://schemas.openxmlformats.org/officeDocument/2006/relationships/slide" Target="/ppt/slides/slide9.xml" Id="R6e49b25703e348d3" /><Relationship Type="http://schemas.openxmlformats.org/officeDocument/2006/relationships/slide" Target="/ppt/slides/slide10.xml" Id="R8235c5a344304581" /><Relationship Type="http://schemas.openxmlformats.org/officeDocument/2006/relationships/slide" Target="/ppt/slides/slide11.xml" Id="R570d8c119e1849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a2c097d4de47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bb10c4f29349b2" /><Relationship Type="http://schemas.openxmlformats.org/officeDocument/2006/relationships/notesMaster" Target="/ppt/notesMasters/notesMaster1.xml" Id="Rf911cf1582534e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df5dfe88354477" /><Relationship Type="http://schemas.openxmlformats.org/officeDocument/2006/relationships/notesMaster" Target="/ppt/notesMasters/notesMaster1.xml" Id="R39a9a88c7d4b4d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2abef58d1f4cb0" /><Relationship Type="http://schemas.openxmlformats.org/officeDocument/2006/relationships/notesMaster" Target="/ppt/notesMasters/notesMaster1.xml" Id="R565323f5cc4d40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4263bfb4114caa" /><Relationship Type="http://schemas.openxmlformats.org/officeDocument/2006/relationships/notesMaster" Target="/ppt/notesMasters/notesMaster1.xml" Id="R23f70073034f4b1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f49cba094047d8" /><Relationship Type="http://schemas.openxmlformats.org/officeDocument/2006/relationships/notesMaster" Target="/ppt/notesMasters/notesMaster1.xml" Id="R2cd9d78bbf2846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75382fca3d4485" /><Relationship Type="http://schemas.openxmlformats.org/officeDocument/2006/relationships/notesMaster" Target="/ppt/notesMasters/notesMaster1.xml" Id="R1bdce468621449b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5d7b8309f34671" /><Relationship Type="http://schemas.openxmlformats.org/officeDocument/2006/relationships/notesMaster" Target="/ppt/notesMasters/notesMaster1.xml" Id="R738206f55dad43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56fcf6aae834646" /><Relationship Type="http://schemas.openxmlformats.org/officeDocument/2006/relationships/notesMaster" Target="/ppt/notesMasters/notesMaster1.xml" Id="R44b653a47c8c468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2ccf266da5942d1" /><Relationship Type="http://schemas.openxmlformats.org/officeDocument/2006/relationships/notesMaster" Target="/ppt/notesMasters/notesMaster1.xml" Id="Ra015066ec18741b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bdd11a290b94ddd" /><Relationship Type="http://schemas.openxmlformats.org/officeDocument/2006/relationships/notesMaster" Target="/ppt/notesMasters/notesMaster1.xml" Id="Rea5765b2c024453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469d26cf8214b14" /><Relationship Type="http://schemas.openxmlformats.org/officeDocument/2006/relationships/notesMaster" Target="/ppt/notesMasters/notesMaster1.xml" Id="Rd8ccdb5c80044b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https://www.greenremodeling.or.kr/n1/report2/view.asp?seq_=2970 ; https://www.data.go.kr/data/3069931/fileData.do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https://www.data.go.kr/data/15135963/openapi.do ; https://www.greenremodeling.or.kr/greeny_origin/pages/s01_01.asp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https://www.greenremodeling.or.kr/greeny_origin/pages/s01_01.asp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https://www.data.go.kr/data/3069931/fileData.do ; CSV SHA-256 1a049b33df564410508ebbf1164d401d660eae75fcaa8f2de3c27367ac9c883a. 2026-09-30 로컬 검사.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수치·점·구간은 화면 구성 예시이며 실제 모델 결과가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https://www.data.go.kr/data/3069931/fileData.do ; https://www.greenremodeling.or.kr/greeny_origin/pages/s01_01.asp ; AI 활용: OpenAI Codex로 아이디어 비교·초안 문안·화면 구성. 모델 학습·성능 평가 및 제품 구현은 아직 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8700a6ec2e4d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80495e7c7444d6" /><Relationship Type="http://schemas.openxmlformats.org/officeDocument/2006/relationships/slideLayout" Target="/ppt/slideLayouts/slideLayout1.xml" Id="R0fa5201b84264e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a5201b84264e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70c6fa4b404792" /><Relationship Type="http://schemas.openxmlformats.org/officeDocument/2006/relationships/notesSlide" Target="/ppt/notesSlides/notesSlide1.xml" Id="R73b0b3f4e8a147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43f8cd00824d2d" /><Relationship Type="http://schemas.openxmlformats.org/officeDocument/2006/relationships/notesSlide" Target="/ppt/notesSlides/notesSlide2.xml" Id="Ra3b555cf992b4ea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3daf46bc544abe" /><Relationship Type="http://schemas.openxmlformats.org/officeDocument/2006/relationships/notesSlide" Target="/ppt/notesSlides/notesSlide3.xml" Id="R5527d41715dc4d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014b1c7ea14837" /><Relationship Type="http://schemas.openxmlformats.org/officeDocument/2006/relationships/notesSlide" Target="/ppt/notesSlides/notesSlide4.xml" Id="Reeeb534223474b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e01910b0ca4a46" /><Relationship Type="http://schemas.openxmlformats.org/officeDocument/2006/relationships/notesSlide" Target="/ppt/notesSlides/notesSlide5.xml" Id="R557c4abdefba4b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77fcc0b9a14ea6" /><Relationship Type="http://schemas.openxmlformats.org/officeDocument/2006/relationships/notesSlide" Target="/ppt/notesSlides/notesSlide6.xml" Id="R0531ef815add47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c695da4b6d44f2" /><Relationship Type="http://schemas.openxmlformats.org/officeDocument/2006/relationships/notesSlide" Target="/ppt/notesSlides/notesSlide7.xml" Id="Rbd803da31c63416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302908d00d4811" /><Relationship Type="http://schemas.openxmlformats.org/officeDocument/2006/relationships/notesSlide" Target="/ppt/notesSlides/notesSlide8.xml" Id="R5fafd1ff568f414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acb6760fee4e44" /><Relationship Type="http://schemas.openxmlformats.org/officeDocument/2006/relationships/notesSlide" Target="/ppt/notesSlides/notesSlide9.xml" Id="Rb6bb406e610a418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7bfc938f4a4d64" /><Relationship Type="http://schemas.openxmlformats.org/officeDocument/2006/relationships/notesSlide" Target="/ppt/notesSlides/notesSlide10.xml" Id="Rc94c2313ad3b41d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1f44d355e240b1" /><Relationship Type="http://schemas.openxmlformats.org/officeDocument/2006/relationships/notesSlide" Target="/ppt/notesSlides/notesSlide11.xml" Id="Ra483b85333094f4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33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604E1B-D21B-4613-88C4-BFBC36D3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66800"/>
            <a:ext cx="152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5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B75274-2007-44B6-8D0F-1AC1524D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04900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그린스캔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946368-255E-4694-9286-DE2FC2BF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336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D9F2E4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D9F2E4"/>
                </a:solidFill>
                <a:latin typeface="Malgun Gothic"/>
                <a:ea typeface="Malgun Gothic"/>
                <a:cs typeface="Malgun Gothic"/>
              </a:rPr>
              <a:t>노후 공공건축물 에너지 사전점검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ECED6F-FC65-496A-AF3A-83AD8A87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14675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9F2E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D9F2E4"/>
                </a:solidFill>
                <a:latin typeface="Malgun Gothic"/>
                <a:ea typeface="Malgun Gothic"/>
                <a:cs typeface="Malgun Gothic"/>
              </a:rPr>
              <a:t>AI 플랫폼 아이디어 · 예선 제안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60BB08-EC68-4374-8513-B0654A11B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05450"/>
            <a:ext cx="981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관측 사용량은 현장 진단의 출발점입니다. 절감 가능량은 아닙니다.</a:t>
            </a:r>
          </a:p>
        </p:txBody>
      </p:sp>
    </p:spTree>
    <p:extLst>
      <p:ext uri="{BB962C8B-B14F-4D97-AF65-F5344CB8AC3E}">
        <p14:creationId xmlns:p14="http://schemas.microsoft.com/office/powerpoint/2010/main" val="11761866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E24334-634C-4598-A3BE-AED66AD8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"/>
            <a:ext cx="1238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45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358B15-6A70-494D-8215-16054AD4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어떤 건물을 먼저 점검할까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5366F0-58E5-47C1-8CEB-29D75AAC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D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9BB2DF-7DE8-427E-9EB0-0CB9FD8A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B5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55B52"/>
                </a:solidFill>
                <a:latin typeface="Malgun Gothic"/>
                <a:ea typeface="Malgun Gothic"/>
                <a:cs typeface="Malgun Gothic"/>
              </a:rPr>
              <a:t>그린스캔 · AI 플랫폼 아이디어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CAD39F-2FA1-4A8C-9616-7028CC76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B5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55B52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EADFE5-43AF-444D-BE57-9A4A3F1C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지자체 시설 담당자는 여러 건물의 진단 순서를 정해야 한다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6EF6B8-C772-45AC-8570-518D0D4C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6670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같은 숫자, 다른 맥락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752D85-B172-418F-8D75-29788863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038475"/>
            <a:ext cx="4953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용도·규모·운영시간이 다른 건물의 사용량을 단순 순위로 비교하기 어렵다.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7AE240-EDA9-448D-BFD4-D485101F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670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빈 값도 의사결정에 영향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2C3833-724E-4014-B268-703DB993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38475"/>
            <a:ext cx="4953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공개자료에는 미보고 분기와 공란이 있어 먼저 데이터의 비교 가능성을 확인해야 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AB0DA3-8900-45F9-AB83-754D04B7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95875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목표: 공사안을 자동 결정하지 않고 현장 진단 의뢰 전 확인할 대상을 좁힌다.</a:t>
            </a:r>
          </a:p>
        </p:txBody>
      </p:sp>
    </p:spTree>
    <p:extLst>
      <p:ext uri="{BB962C8B-B14F-4D97-AF65-F5344CB8AC3E}">
        <p14:creationId xmlns:p14="http://schemas.microsoft.com/office/powerpoint/2010/main" val="14249301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D6851A-C829-4457-A403-A55734DA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"/>
            <a:ext cx="1238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45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4B2FA5-E870-4E6A-BB65-96CB88B6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원안에서 고친 핵심 주장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45825C-1420-43AB-A5A4-A844A88D8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D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128C17-F41C-46D2-ADA7-99A880E4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B5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55B52"/>
                </a:solidFill>
                <a:latin typeface="Malgun Gothic"/>
                <a:ea typeface="Malgun Gothic"/>
                <a:cs typeface="Malgun Gothic"/>
              </a:rPr>
              <a:t>그린스캔 · AI 플랫폼 아이디어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8A12F2-A7E9-41A8-9EE7-DECE6912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B5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55B52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6D764C-68D3-4907-AD7B-60CA8F37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47637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사용량 차이 ≠ 절감 가능량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B805C5-FDCA-42EA-ADFE-8C27C349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47850"/>
            <a:ext cx="5048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운영시간·이용인원·계량 범위가 달라져도 예측값과 실제값의 차이는 생긴다.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164A54-44AF-460E-9ED5-EAC7C1CD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7637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지번 API ≠ 건물 세부 상태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858BBA-E636-4234-A48D-6F8A90B7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47850"/>
            <a:ext cx="5048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건축HUB 월별 전기·가스 값은 지번 단위다. 도면·단열재·창호 사양은 그 값으로 알 수 없다.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4C9CE0-43CA-4062-8009-AED30472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74332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9C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A53936-41C4-4B87-9D4D-C42AC215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52900"/>
            <a:ext cx="10001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A6521D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A6521D"/>
                </a:solidFill>
                <a:latin typeface="Malgun Gothic"/>
                <a:ea typeface="Malgun Gothic"/>
                <a:cs typeface="Malgun Gothic"/>
              </a:rPr>
              <a:t>따라서 전후 절감률·CO₂ 감소율을 임의로 그리지 않는다.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E318BD-E8C1-4B63-83ED-7906F0AA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00625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결과는 “현장 확인이 필요한 신호” 또는 “자료 부족으로 보류”로만 표시한다.</a:t>
            </a:r>
          </a:p>
        </p:txBody>
      </p:sp>
    </p:spTree>
    <p:extLst>
      <p:ext uri="{BB962C8B-B14F-4D97-AF65-F5344CB8AC3E}">
        <p14:creationId xmlns:p14="http://schemas.microsoft.com/office/powerpoint/2010/main" val="6185022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933B11-7856-43AD-81FE-4F54C9D1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"/>
            <a:ext cx="1238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45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2B812C-E4AA-4DE7-A2AA-9701BB5C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이미 있는 서비스와의 경계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EDBA4F-93E5-4621-AB85-B2D72338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D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FDA527-CE4D-4C09-9E4F-19B74241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B5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55B52"/>
                </a:solidFill>
                <a:latin typeface="Malgun Gothic"/>
                <a:ea typeface="Malgun Gothic"/>
                <a:cs typeface="Malgun Gothic"/>
              </a:rPr>
              <a:t>그린스캔 · AI 플랫폼 아이디어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52317F-50C8-4801-B1F3-AEAF6E35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B5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55B52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4F25ED-75B5-45F9-BEA0-78E96FBA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57162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Greeny: 공사 시나리오 분석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1610ED-63F7-4A89-9618-3EE8387B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43100"/>
            <a:ext cx="5048250" cy="2009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건축·설비 정보 입력, 노후도 평가, 개선안별 에너지·CO₂·공사비 예상 결과를 제공한다고 안내한다.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2C26EA-338B-4FE0-93AC-FC08E076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7162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그린스캔: 진단 전 사전점검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54DA05-87FB-4486-92D8-3DAA4C51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43100"/>
            <a:ext cx="5048250" cy="2009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공개 에너지자료만으로 비교 가능한지를 먼저 가르고 유사 조건 대비 신호·보류 사유·현장 질문을 남긴다.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FD2DEF-0180-465C-965F-DB9B6FD6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95875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차별성은 “AI 그래프”가 아니라 낮은 입력 부담과 판단 보류, 재현 가능한 모델 평가에 있다.</a:t>
            </a:r>
          </a:p>
        </p:txBody>
      </p:sp>
    </p:spTree>
    <p:extLst>
      <p:ext uri="{BB962C8B-B14F-4D97-AF65-F5344CB8AC3E}">
        <p14:creationId xmlns:p14="http://schemas.microsoft.com/office/powerpoint/2010/main" val="4475903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811B4E-A84F-4711-8CF5-B713CE8C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"/>
            <a:ext cx="1238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45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60152B-7A8A-4120-8651-CCDF82F0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실제 확보한 공개 데이터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7713DF-70E2-4A77-A5DE-4440AE69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D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7696AF-38AF-4916-B4FE-A71DF645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B5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55B52"/>
                </a:solidFill>
                <a:latin typeface="Malgun Gothic"/>
                <a:ea typeface="Malgun Gothic"/>
                <a:cs typeface="Malgun Gothic"/>
              </a:rPr>
              <a:t>그린스캔 · AI 플랫폼 아이디어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81D680-9C21-4399-8C02-79AAE200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B5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55B52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A70B29-6790-4CD1-8AE1-3227A9CD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90675"/>
            <a:ext cx="400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02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502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4,347행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6E4F8C-25C9-4D67-912C-5ABEDA92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62225"/>
            <a:ext cx="523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15개 열 · 로그인 없이 내려받은 CSV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7CEC05-7F53-4329-AF31-00174F2B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90675"/>
            <a:ext cx="4238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02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502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3,681행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EEC64D-F2E5-49AC-BE92-91132141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62225"/>
            <a:ext cx="5048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미보고 분기 0·양의 소비 원단위 등 기본조건 통과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7E4339-1A74-47B5-A717-CD8DEA80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9C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306E34-75ED-4531-B8AC-04F10783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243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입력: 지역 · 용도 · 연면적 · 사용승인일 · 층수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E02689-CB5D-41A6-B52D-9280A951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577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검토값: 연간 단위면적당 1차 에너지 소비량 3개년 평균(kWh/㎡·년)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322B16-F37E-4FBB-8B52-3DECE126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0545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6521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6521D"/>
                </a:solidFill>
                <a:latin typeface="Malgun Gothic"/>
                <a:ea typeface="Malgun Gothic"/>
                <a:cs typeface="Malgun Gothic"/>
              </a:rPr>
              <a:t>연면적 3,000㎡ 이상 공공건축물 중심. 소형 민간 건물로 일반화하지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3964525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571B2A-3A8B-4B71-BAF0-B4D932DA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"/>
            <a:ext cx="1238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45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C42682-3743-4006-94F1-0C7B651A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이용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9F8F98-FB11-426F-9736-1023D115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D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717F6B-EC0F-4DE6-B70D-00B297E3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B5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55B52"/>
                </a:solidFill>
                <a:latin typeface="Malgun Gothic"/>
                <a:ea typeface="Malgun Gothic"/>
                <a:cs typeface="Malgun Gothic"/>
              </a:rPr>
              <a:t>그린스캔 · AI 플랫폼 아이디어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7AFB54-85CC-464B-800F-EE7CC55B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B5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55B52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E6508D-219C-42E8-B60F-95BA0478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43075"/>
            <a:ext cx="2428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452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ED2A8B-A2A7-4689-91AD-1D4C06E1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2428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1 · 선택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B16948-7120-433F-A5E1-BC33A713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76525"/>
            <a:ext cx="24288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공개 목록에서 건물 선택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99EF54-C598-45C9-A4AD-CBE995ED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743075"/>
            <a:ext cx="2428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45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963FEB-CF4B-43DF-B22F-D4F23DFA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76450"/>
            <a:ext cx="2428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2 ·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9871E8-5F1A-4294-AB47-DF5959FA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76525"/>
            <a:ext cx="24288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보고 누락·값 이상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336C07-F834-4549-8399-237A231B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43075"/>
            <a:ext cx="2428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45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9B092C-C5FE-4F70-BB55-ADE11BD4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76450"/>
            <a:ext cx="2428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3 · 비교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C87DA7-1FB1-4A18-92D3-12C8F6E2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76525"/>
            <a:ext cx="24288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유사 조건 참고 범위 표시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9627D9-BA14-41AE-B164-2ECE8A73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743075"/>
            <a:ext cx="2428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45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816082-407B-4AE7-BD38-3EB7B5DE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76450"/>
            <a:ext cx="2428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4 · 의뢰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93B6FD-2BE0-4CA8-A12A-DDF31180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76525"/>
            <a:ext cx="24288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운영·계량·외피·설비 질문 저장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0D1D8C-5C3E-4848-AED2-2583F4FC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76825"/>
            <a:ext cx="10287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담당자가 확인해야 할 다음 행동을 제공하고 자동 공사 처방은 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4195200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DD90F3-1505-4A91-B093-03DC44DB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"/>
            <a:ext cx="1238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45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68BA6F-DC9E-4B7D-A629-B0CD3F87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AI 처리와 판단 보류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A21584-3548-4A37-A8E5-2351B79A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D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F2F49C-D153-4C4D-B57C-A2A6BE6D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B5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55B52"/>
                </a:solidFill>
                <a:latin typeface="Malgun Gothic"/>
                <a:ea typeface="Malgun Gothic"/>
                <a:cs typeface="Malgun Gothic"/>
              </a:rPr>
              <a:t>그린스캔 · AI 플랫폼 아이디어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2D44C7-A441-45D0-8FAD-0CAB79A3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B5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55B52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2EA6A5-9668-400D-8F7C-A680B32A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자료 검사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B652CF-C8FC-4771-9F11-3474340B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4953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미보고 분기, 0값, 범위 밖 면적·연도를 검사한다.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E1D20C-289B-49B5-83E1-868CFE9A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4382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기준선·모델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0F50A4-D948-4E69-9042-3E306F05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809750"/>
            <a:ext cx="4953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용도×지역×면적 집계 중앙값과 자체 회귀 모델을 같은 자료로 평가한다.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7DE701-0160-4908-AEB1-A421E785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575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불확실성 표시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A83EDE-6731-4140-B285-8DE78A52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49530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유사군 수와 평가 오차를 함께 보여주고, 근거가 부족하면 보류한다.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DBE6FA-9FDB-4052-AFA7-55259031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4575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사람의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F46962-E437-452D-B77A-0B7BB9DF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829050"/>
            <a:ext cx="49530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높은 사용량의 원인을 단정하지 않고 운영·계량·단열/창호/설비 질문을 남긴다.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725942-D494-43B0-BB33-EE32B865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81625"/>
            <a:ext cx="10287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6521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A6521D"/>
                </a:solidFill>
                <a:latin typeface="Malgun Gothic"/>
                <a:ea typeface="Malgun Gothic"/>
                <a:cs typeface="Malgun Gothic"/>
              </a:rPr>
              <a:t>생성형 LLM 호출은 필수가 아니다. 모델이 단순 기준선보다 못하면 AI 우월 주장을 철회한다.</a:t>
            </a:r>
          </a:p>
        </p:txBody>
      </p:sp>
    </p:spTree>
    <p:extLst>
      <p:ext uri="{BB962C8B-B14F-4D97-AF65-F5344CB8AC3E}">
        <p14:creationId xmlns:p14="http://schemas.microsoft.com/office/powerpoint/2010/main" val="20190251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B46322-9C30-4237-9069-861159F5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"/>
            <a:ext cx="1238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45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7D3992-68A6-44B7-89A5-94015514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서비스 화면 구성안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D9B6E8-F843-4393-B034-D5543859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D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E55F40-AC75-4139-B17B-EC250AF9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B5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55B52"/>
                </a:solidFill>
                <a:latin typeface="Malgun Gothic"/>
                <a:ea typeface="Malgun Gothic"/>
                <a:cs typeface="Malgun Gothic"/>
              </a:rPr>
              <a:t>그린스캔 · AI 플랫폼 아이디어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5C3D22-68FB-4D82-B9F2-AA31B3DD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B5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55B52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880B9B-B8B4-4EC0-A8AF-95B3019A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381125"/>
            <a:ext cx="10477500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8C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EFCEFE-BBFD-446D-84A8-9FC8C808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619250"/>
            <a:ext cx="300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선택한 공공건축물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7CDEE6-C194-4C72-911A-082485D5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057400"/>
            <a:ext cx="300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55B5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55B52"/>
                </a:solidFill>
                <a:latin typeface="Malgun Gothic"/>
                <a:ea typeface="Malgun Gothic"/>
                <a:cs typeface="Malgun Gothic"/>
              </a:rPr>
              <a:t>용도 · 지역 · 면적 · 준공연도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6AC156-E6A4-4A6D-A708-55A469C8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571625"/>
            <a:ext cx="19050" cy="3724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D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F3B9A1-8A65-4DDD-A22C-40C9DC8C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61925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관측 원단위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FD6132-DA73-4FCE-84F6-F0123A34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438400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●  관측값  |── 참고 범위 ──|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E07797-1C44-46D0-A23C-2A3B777C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228975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55B5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55B52"/>
                </a:solidFill>
                <a:latin typeface="Malgun Gothic"/>
                <a:ea typeface="Malgun Gothic"/>
                <a:cs typeface="Malgun Gothic"/>
              </a:rPr>
              <a:t>kWh/㎡·년 · 3개년 평균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177B96-3E4A-46B8-A677-90CE57FD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571625"/>
            <a:ext cx="19050" cy="3724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D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37F98E-ECB8-4020-A32E-613F3B78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6192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판정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E1A9C2-795D-4E7D-AB41-4DEC928E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81250"/>
            <a:ext cx="18573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6521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A6521D"/>
                </a:solidFill>
                <a:latin typeface="Malgun Gothic"/>
                <a:ea typeface="Malgun Gothic"/>
                <a:cs typeface="Malgun Gothic"/>
              </a:rPr>
              <a:t>현장 확인 필요</a:t>
            </a:r>
          </a:p>
          <a:p xmlns:a="http://schemas.openxmlformats.org/drawingml/2006/main">
            <a:pPr>
              <a:defRPr sz="1800" b="1">
                <a:solidFill>
                  <a:srgbClr val="A6521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A6521D"/>
                </a:solidFill>
                <a:latin typeface="Malgun Gothic"/>
                <a:ea typeface="Malgun Gothic"/>
                <a:cs typeface="Malgun Gothic"/>
              </a:rPr>
              <a:t>또는 판단 보류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50AC1B-162F-4689-BD9A-AF8E0223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638675"/>
            <a:ext cx="9886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질문서: 운영시간 · 이용인원 · 계량 범위 · 외피/설비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9E83C9-B80B-42D9-82E8-1A0327F2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388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55B5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55B52"/>
                </a:solidFill>
                <a:latin typeface="Malgun Gothic"/>
                <a:ea typeface="Malgun Gothic"/>
                <a:cs typeface="Malgun Gothic"/>
              </a:rPr>
              <a:t>예시 와이어프레임 · 실제 관측값과 모델값은 미표시</a:t>
            </a:r>
          </a:p>
        </p:txBody>
      </p:sp>
    </p:spTree>
    <p:extLst>
      <p:ext uri="{BB962C8B-B14F-4D97-AF65-F5344CB8AC3E}">
        <p14:creationId xmlns:p14="http://schemas.microsoft.com/office/powerpoint/2010/main" val="6046036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3D0B1C-FE4A-4981-9E4F-D2FB0EEF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"/>
            <a:ext cx="1238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45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AE54BB-09F9-4E04-9CF5-F8C733D8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본선에서 검증할 방법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01DA27-0CEC-410C-B917-8DE68751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D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C90776-DB54-4FD1-B6F6-BC53A5CB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B5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55B52"/>
                </a:solidFill>
                <a:latin typeface="Malgun Gothic"/>
                <a:ea typeface="Malgun Gothic"/>
                <a:cs typeface="Malgun Gothic"/>
              </a:rPr>
              <a:t>그린스캔 · AI 플랫폼 아이디어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58E3C9-2675-4BBE-9CF1-1A3F328D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B5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55B52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14CF9E-440B-43F3-B102-19F9BF94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573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분리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C805B6-D269-48E0-BC3E-4A369FF7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28800"/>
            <a:ext cx="49530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같은 건물 주소·기관이 학습/평가에 섞이지 않도록 그룹 분리한다.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08D0F4-CB61-414A-98F4-98976AFF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4573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비교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23325F-18BF-44C0-9D04-A55EF02D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28800"/>
            <a:ext cx="49530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집계 중앙값을 비AI 기준선으로 두고 모델의 MAE·참고구간 커버리지를 비교한다.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C5EE41-A875-4714-A4DE-6B660CB2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575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실패 사례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278B07-0E56-4FBE-A87B-74B8EC01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4953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보고 누락·0값·유사군 부족에서 자동 판단을 보류하는지 확인한다.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55D26B-20C5-4AD0-AD55-59A0BAAF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4575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범용 LLM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E638AA-FEF4-4109-B48E-91F17010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829050"/>
            <a:ext cx="4953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같은 CSV와 질문을 줘 반복성·출처·보류 동작을 비교한다. 아직 실행하지 않았다.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B9D9E6-49C1-4DFC-8F85-D97ABFF5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10382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6521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A6521D"/>
                </a:solidFill>
                <a:latin typeface="Malgun Gothic"/>
                <a:ea typeface="Malgun Gothic"/>
                <a:cs typeface="Malgun Gothic"/>
              </a:rPr>
              <a:t>진단 적중률·리모델링 절감률은 현장 정답이 없어 이번 데이터로 검증할 수 없다.</a:t>
            </a:r>
          </a:p>
        </p:txBody>
      </p:sp>
    </p:spTree>
    <p:extLst>
      <p:ext uri="{BB962C8B-B14F-4D97-AF65-F5344CB8AC3E}">
        <p14:creationId xmlns:p14="http://schemas.microsoft.com/office/powerpoint/2010/main" val="15119536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AE5DDA-E4F3-4A33-97A7-1F1261DB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"/>
            <a:ext cx="1238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45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CD7E3D-88D6-4F0B-89D9-A81946622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본선 최소 시연 계획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2A6668-5803-49AE-A530-0C71C615F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D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0618AC-FB5A-4B0A-8ECC-E1399791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B5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55B52"/>
                </a:solidFill>
                <a:latin typeface="Malgun Gothic"/>
                <a:ea typeface="Malgun Gothic"/>
                <a:cs typeface="Malgun Gothic"/>
              </a:rPr>
              <a:t>그린스캔 · AI 플랫폼 아이디어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4542DB-EE39-4878-BC32-35615B53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B5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55B52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656492-5023-4819-9566-78084C39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00175"/>
            <a:ext cx="10096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10/14 진출 확인 후 → 10/24~25 본선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59813C-7629-4091-85F4-552B74EB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5267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만들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A6DDE4-E589-4617-BB14-57E194F7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48577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정적 CSV 로드, 품질검사, 기준선·회귀 모델 비교, 단일 웹 화면, 질문서 저장.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5E1EC3-1EE0-4710-B815-0EAC8AA05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5267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범위 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6DC4E0-0E01-4377-B71D-BB81909C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24150"/>
            <a:ext cx="48577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실시간 API 결합, 도면/자재 자동 조회, 공사안·절감률·탄소량 산정.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5422B0-5895-4C61-9AF4-0D6BE730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96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내부 작업량 추정 28~44인시 · 역할/가용시간은 확정 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E6C8AA-4E29-465F-82ED-34C91A6E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48275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모델이 기준선보다 못하거나 네트워크가 끊기면, 로컬 CSV와 집계 기준선으로 보류 사유까지 시연한다.</a:t>
            </a:r>
          </a:p>
        </p:txBody>
      </p:sp>
    </p:spTree>
    <p:extLst>
      <p:ext uri="{BB962C8B-B14F-4D97-AF65-F5344CB8AC3E}">
        <p14:creationId xmlns:p14="http://schemas.microsoft.com/office/powerpoint/2010/main" val="4332976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070EE5-CEE9-4372-AFE6-E3F35000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"/>
            <a:ext cx="1238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45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849B73-7488-4AD0-BBAD-5819B01F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사용 조건과 다음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0A8208-241B-4C11-82CF-19F497DF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D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796719-6178-4072-962B-3AF19940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B5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55B52"/>
                </a:solidFill>
                <a:latin typeface="Malgun Gothic"/>
                <a:ea typeface="Malgun Gothic"/>
                <a:cs typeface="Malgun Gothic"/>
              </a:rPr>
              <a:t>그린스캔 · AI 플랫폼 아이디어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CFF721-0654-4179-85D7-B58E048E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B5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55B52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0E930D-1423-46A7-B1F7-1DB0BED9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335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지금 말할 수 있는 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C294DF-6975-4B01-A98C-FC7EE481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495300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공개 데이터 확보, 기본 결측 검사, 본선 최소 구현 흐름과 평가 계획.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99D1B3-1729-4295-862F-EE5E026A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5335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아직 말할 수 없는 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0674AE-CBD5-4B20-A5A4-A0728A41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905000"/>
            <a:ext cx="495300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AI 성능 우월, 공사 원인, 절감 가능량, 시설 담당자의 실제 도입 효과.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4415AB-0845-4CA3-8291-590284DC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86225"/>
            <a:ext cx="1042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9C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D44A76-762B-429E-A08E-59E4F9CE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67225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높은 사용량은 현장 조사 신호다. 리모델링 효과는 현장 정보와 별도 성능분석이 있어야 판단한다.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60AE20-4F19-4A63-B4CF-0DCB4572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55B5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55B52"/>
                </a:solidFill>
                <a:latin typeface="Malgun Gothic"/>
                <a:ea typeface="Malgun Gothic"/>
                <a:cs typeface="Malgun Gothic"/>
              </a:rPr>
              <a:t>생성형 AI 활용: Codex로 후보 비교·제안 문구·화면 구성 초안 작성. 데이터 분석 모델은 미구현.</a:t>
            </a:r>
          </a:p>
        </p:txBody>
      </p:sp>
    </p:spTree>
    <p:extLst>
      <p:ext uri="{BB962C8B-B14F-4D97-AF65-F5344CB8AC3E}">
        <p14:creationId xmlns:p14="http://schemas.microsoft.com/office/powerpoint/2010/main" val="6404584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2026-09-30T00:42:36.5330000Z</dcterms:created>
  <dcterms:modified xsi:type="dcterms:W3CDTF">2026-09-30T00:42:36.5330000Z</dcterms:modified>
</coreProperties>
</file>