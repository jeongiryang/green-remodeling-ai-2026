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12f8e644d4854" /><Relationship Type="http://schemas.openxmlformats.org/officeDocument/2006/relationships/extended-properties" Target="/docProps/app.xml" Id="R72f3088ef69848e8" /><Relationship Type="http://schemas.openxmlformats.org/officeDocument/2006/relationships/officeDocument" Target="/ppt/presentation.xml" Id="R0009eceb312a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eef81216f4f8c"/>
  </p:sldMasterIdLst>
  <p:notesMasterIdLst>
    <p:notesMasterId xmlns:r="http://schemas.openxmlformats.org/officeDocument/2006/relationships" r:id="R653fd9df201042ba"/>
  </p:notesMasterIdLst>
  <p:sldIdLst>
    <p:sldId xmlns:r="http://schemas.openxmlformats.org/officeDocument/2006/relationships" id="256" r:id="Reafecd5b70bd40ef"/>
    <p:sldId xmlns:r="http://schemas.openxmlformats.org/officeDocument/2006/relationships" id="257" r:id="Rbbc2bb549d134970"/>
    <p:sldId xmlns:r="http://schemas.openxmlformats.org/officeDocument/2006/relationships" id="258" r:id="Rb0b804d830674b00"/>
    <p:sldId xmlns:r="http://schemas.openxmlformats.org/officeDocument/2006/relationships" id="259" r:id="R1643ce522ae6459a"/>
    <p:sldId xmlns:r="http://schemas.openxmlformats.org/officeDocument/2006/relationships" id="260" r:id="R2924bcd6e3a64432"/>
    <p:sldId xmlns:r="http://schemas.openxmlformats.org/officeDocument/2006/relationships" id="261" r:id="Rd0032c68bcad42fb"/>
    <p:sldId xmlns:r="http://schemas.openxmlformats.org/officeDocument/2006/relationships" id="262" r:id="R715dc6b9bcf04ee0"/>
    <p:sldId xmlns:r="http://schemas.openxmlformats.org/officeDocument/2006/relationships" id="263" r:id="R48d78f7fa7ed4c22"/>
    <p:sldId xmlns:r="http://schemas.openxmlformats.org/officeDocument/2006/relationships" id="264" r:id="Rc80f8c5f17aa4ea4"/>
    <p:sldId xmlns:r="http://schemas.openxmlformats.org/officeDocument/2006/relationships" id="265" r:id="R389f88b90d7441c6"/>
    <p:sldId xmlns:r="http://schemas.openxmlformats.org/officeDocument/2006/relationships" id="266" r:id="R50d15fe8104e4367"/>
    <p:sldId xmlns:r="http://schemas.openxmlformats.org/officeDocument/2006/relationships" id="267" r:id="Rc07ca3d20bd24196"/>
    <p:sldId xmlns:r="http://schemas.openxmlformats.org/officeDocument/2006/relationships" id="268" r:id="Ra15c759311ee4d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06795a5a949db" /><Relationship Type="http://schemas.openxmlformats.org/officeDocument/2006/relationships/slideMaster" Target="/ppt/slideMasters/slideMaster1.xml" Id="R4e9eef81216f4f8c" /><Relationship Type="http://schemas.openxmlformats.org/officeDocument/2006/relationships/notesMaster" Target="/ppt/notesMasters/notesMaster1.xml" Id="R653fd9df201042ba" /><Relationship Type="http://schemas.openxmlformats.org/officeDocument/2006/relationships/presProps" Target="/ppt/presProps.xml" Id="R2b0612d5769a4445" /><Relationship Type="http://schemas.openxmlformats.org/officeDocument/2006/relationships/tableStyles" Target="/ppt/tableStyles.xml" Id="R3f16a6fb6a4d41d3" /><Relationship Type="http://schemas.openxmlformats.org/officeDocument/2006/relationships/slide" Target="/ppt/slides/slide1.xml" Id="Reafecd5b70bd40ef" /><Relationship Type="http://schemas.openxmlformats.org/officeDocument/2006/relationships/slide" Target="/ppt/slides/slide2.xml" Id="Rbbc2bb549d134970" /><Relationship Type="http://schemas.openxmlformats.org/officeDocument/2006/relationships/slide" Target="/ppt/slides/slide3.xml" Id="Rb0b804d830674b00" /><Relationship Type="http://schemas.openxmlformats.org/officeDocument/2006/relationships/slide" Target="/ppt/slides/slide4.xml" Id="R1643ce522ae6459a" /><Relationship Type="http://schemas.openxmlformats.org/officeDocument/2006/relationships/slide" Target="/ppt/slides/slide5.xml" Id="R2924bcd6e3a64432" /><Relationship Type="http://schemas.openxmlformats.org/officeDocument/2006/relationships/slide" Target="/ppt/slides/slide6.xml" Id="Rd0032c68bcad42fb" /><Relationship Type="http://schemas.openxmlformats.org/officeDocument/2006/relationships/slide" Target="/ppt/slides/slide7.xml" Id="R715dc6b9bcf04ee0" /><Relationship Type="http://schemas.openxmlformats.org/officeDocument/2006/relationships/slide" Target="/ppt/slides/slide8.xml" Id="R48d78f7fa7ed4c22" /><Relationship Type="http://schemas.openxmlformats.org/officeDocument/2006/relationships/slide" Target="/ppt/slides/slide9.xml" Id="Rc80f8c5f17aa4ea4" /><Relationship Type="http://schemas.openxmlformats.org/officeDocument/2006/relationships/slide" Target="/ppt/slides/slide10.xml" Id="R389f88b90d7441c6" /><Relationship Type="http://schemas.openxmlformats.org/officeDocument/2006/relationships/slide" Target="/ppt/slides/slide11.xml" Id="R50d15fe8104e4367" /><Relationship Type="http://schemas.openxmlformats.org/officeDocument/2006/relationships/slide" Target="/ppt/slides/slide12.xml" Id="Rc07ca3d20bd24196" /><Relationship Type="http://schemas.openxmlformats.org/officeDocument/2006/relationships/slide" Target="/ppt/slides/slide13.xml" Id="Ra15c759311ee4d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f8dd821ed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a445025444f96" /><Relationship Type="http://schemas.openxmlformats.org/officeDocument/2006/relationships/notesMaster" Target="/ppt/notesMasters/notesMaster1.xml" Id="R8340d68892e4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4dfc7bbc894ba8" /><Relationship Type="http://schemas.openxmlformats.org/officeDocument/2006/relationships/notesMaster" Target="/ppt/notesMasters/notesMaster1.xml" Id="R5a6fafca3ed441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bc5b289e414bb2" /><Relationship Type="http://schemas.openxmlformats.org/officeDocument/2006/relationships/notesMaster" Target="/ppt/notesMasters/notesMaster1.xml" Id="Rda0fbdd4974e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8fe69679b406c" /><Relationship Type="http://schemas.openxmlformats.org/officeDocument/2006/relationships/notesMaster" Target="/ppt/notesMasters/notesMaster1.xml" Id="R01a07c98208647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b0a04c72f45ba" /><Relationship Type="http://schemas.openxmlformats.org/officeDocument/2006/relationships/notesMaster" Target="/ppt/notesMasters/notesMaster1.xml" Id="Rac67c2a1a37745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3deedc2fd4795" /><Relationship Type="http://schemas.openxmlformats.org/officeDocument/2006/relationships/notesMaster" Target="/ppt/notesMasters/notesMaster1.xml" Id="Rc10faf3fdc694d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c47752ba6a4b09" /><Relationship Type="http://schemas.openxmlformats.org/officeDocument/2006/relationships/notesMaster" Target="/ppt/notesMasters/notesMaster1.xml" Id="R93328a0329b045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ba8a47cfff4434" /><Relationship Type="http://schemas.openxmlformats.org/officeDocument/2006/relationships/notesMaster" Target="/ppt/notesMasters/notesMaster1.xml" Id="Rec5f3d1e2c5e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af09bd46474712" /><Relationship Type="http://schemas.openxmlformats.org/officeDocument/2006/relationships/notesMaster" Target="/ppt/notesMasters/notesMaster1.xml" Id="R44f1af4f498946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f3c3c86c084cc7" /><Relationship Type="http://schemas.openxmlformats.org/officeDocument/2006/relationships/notesMaster" Target="/ppt/notesMasters/notesMaster1.xml" Id="Rd0b54a9e963a4d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c465b45a404c51" /><Relationship Type="http://schemas.openxmlformats.org/officeDocument/2006/relationships/notesMaster" Target="/ppt/notesMasters/notesMaster1.xml" Id="Re0ae61b98f5046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460fc6542a49a6" /><Relationship Type="http://schemas.openxmlformats.org/officeDocument/2006/relationships/notesMaster" Target="/ppt/notesMasters/notesMaster1.xml" Id="Rc7f50c0c481340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7e5508a29b4711" /><Relationship Type="http://schemas.openxmlformats.org/officeDocument/2006/relationships/notesMaster" Target="/ppt/notesMasters/notesMaster1.xml" Id="R115beb6f36a2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아이디어 제안 단계. 제품·회귀 모델·LLM 문진은 본선 진출 확인 후 구현 계획. 에너지 절감 실측값·예측 절감률은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https://www.data.go.kr/data/3069931/fileData.do</a:t>
            </a:r>
          </a:p>
          <a:p xmlns:a="http://schemas.openxmlformats.org/drawingml/2006/main">
            <a:r>
              <a:t>https://cbe.berkeley.edu/research/occupant-survey-and-building-benchmarking/</a:t>
            </a:r>
          </a:p>
          <a:p xmlns:a="http://schemas.openxmlformats.org/drawingml/2006/main">
            <a:r>
              <a:t>아래 업무 문제는 제안 가설이며 국내 시설 담당자 인터뷰로 검증하지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https://www.data.go.kr/data/3069931/fileData.do</a:t>
            </a:r>
          </a:p>
          <a:p xmlns:a="http://schemas.openxmlformats.org/drawingml/2006/main">
            <a:r>
              <a:t>CSV SHA-256: 1a049b33df564410508ebbf1164d401d660eae75fcaa8f2de3c27367ac9c883a</a:t>
            </a:r>
          </a:p>
          <a:p xmlns:a="http://schemas.openxmlformats.org/drawingml/2006/main">
            <a:r>
              <a:t>전체 4347행 15열. 보고누락0, 양의 원단위, 유효면적·연도 기본조건 3681행. 모델 학습용 최종 표본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표형 모델은 실제 데이터가 확보된 계획, 학습 성능 미측정. LLM API 키·비용·로컬 하드웨어 미확인으로 조건부 확장. 고정 입력폼은 LLM 실행 결과로 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예선용 네이티브 도형 와이어프레임. 특정 시설 이용자의 실응답이나 실제 LLM 출력이 아니다. 방별 에너지를 계산하지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4인 팀의 구체 개발 숙련도·가용시간은 미확인. 담당자명은 블라인드 준수를 위해 제외. 본선 진출 확인 전 제품 구현하지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https://www.greenremodeling.or.kr/greeny_origin/pages/s01_01.asp</a:t>
            </a:r>
          </a:p>
          <a:p xmlns:a="http://schemas.openxmlformats.org/drawingml/2006/main">
            <a:r>
              <a:t>https://cbe.berkeley.edu/research/occupant-survey-and-building-benchmarking/</a:t>
            </a:r>
          </a:p>
          <a:p xmlns:a="http://schemas.openxmlformats.org/drawingml/2006/main">
            <a:r>
              <a:t>기존 서비스와의 차이는 제안 가설. 신규 알고리즘 발명 또는 유일한 서비스라는 주장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https://www.data.go.kr/data/3069931/fileData.do</a:t>
            </a:r>
          </a:p>
          <a:p xmlns:a="http://schemas.openxmlformats.org/drawingml/2006/main">
            <a:r>
              <a:t>https://www.greenremodeling.or.kr/greeny_origin/pages/s01_01.asp</a:t>
            </a:r>
          </a:p>
          <a:p xmlns:a="http://schemas.openxmlformats.org/drawingml/2006/main">
            <a:r>
              <a:t>https://cbe.berkeley.edu/research/occupant-survey-and-building-benchmarking/</a:t>
            </a:r>
          </a:p>
          <a:p xmlns:a="http://schemas.openxmlformats.org/drawingml/2006/main">
            <a:r>
              <a:t>https://www.data.go.kr/data/15135963/openapi.do</a:t>
            </a:r>
          </a:p>
          <a:p xmlns:a="http://schemas.openxmlformats.org/drawingml/2006/main">
            <a:r>
              <a:t>OpenAI Codex로 문안·네이티브 화면 도형·제출 자료 작성. PPTX는 @oai/artifact-tool, PDF는 PowerPoint·Hancom 공식 문서 렌더링 사용. 제품 모델 성능·사용자 효용은 본선 검증 계획.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fa80cb923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6d31f7bd984974" /><Relationship Type="http://schemas.openxmlformats.org/officeDocument/2006/relationships/slideLayout" Target="/ppt/slideLayouts/slideLayout1.xml" Id="Red5892dfd1b2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892dfd1b2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0dc02c06d4916" /><Relationship Type="http://schemas.openxmlformats.org/officeDocument/2006/relationships/notesSlide" Target="/ppt/notesSlides/notesSlide1.xml" Id="R4352e56a7d81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864a1365b4315" /><Relationship Type="http://schemas.openxmlformats.org/officeDocument/2006/relationships/notesSlide" Target="/ppt/notesSlides/notesSlide2.xml" Id="R9bf76179b14e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bdb232a2d427c" /><Relationship Type="http://schemas.openxmlformats.org/officeDocument/2006/relationships/notesSlide" Target="/ppt/notesSlides/notesSlide3.xml" Id="Rbc6b76d8e049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ac08836af4dba" /><Relationship Type="http://schemas.openxmlformats.org/officeDocument/2006/relationships/notesSlide" Target="/ppt/notesSlides/notesSlide4.xml" Id="R7f28015f0129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8baa314194bb8" /><Relationship Type="http://schemas.openxmlformats.org/officeDocument/2006/relationships/notesSlide" Target="/ppt/notesSlides/notesSlide5.xml" Id="R99ae6ce974af4b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1c9fee2774fc5" /><Relationship Type="http://schemas.openxmlformats.org/officeDocument/2006/relationships/notesSlide" Target="/ppt/notesSlides/notesSlide6.xml" Id="Rc0d8f9e869e749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9c7f9365b4132" /><Relationship Type="http://schemas.openxmlformats.org/officeDocument/2006/relationships/notesSlide" Target="/ppt/notesSlides/notesSlide7.xml" Id="Rbe10a2c94f4946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1965271ed4ff8" /><Relationship Type="http://schemas.openxmlformats.org/officeDocument/2006/relationships/notesSlide" Target="/ppt/notesSlides/notesSlide8.xml" Id="R644977e23b2e4a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d23f8285467b" /><Relationship Type="http://schemas.openxmlformats.org/officeDocument/2006/relationships/notesSlide" Target="/ppt/notesSlides/notesSlide9.xml" Id="R13ab7f9d0e4248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da1ad5246485d" /><Relationship Type="http://schemas.openxmlformats.org/officeDocument/2006/relationships/notesSlide" Target="/ppt/notesSlides/notesSlide10.xml" Id="Rf58211b99aed4e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c6ee5c0c24f9b" /><Relationship Type="http://schemas.openxmlformats.org/officeDocument/2006/relationships/notesSlide" Target="/ppt/notesSlides/notesSlide11.xml" Id="Rd2025f17103944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604da500e48fb" /><Relationship Type="http://schemas.openxmlformats.org/officeDocument/2006/relationships/notesSlide" Target="/ppt/notesSlides/notesSlide12.xml" Id="Rc3d0b2530d184d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71bb95624cd0" /><Relationship Type="http://schemas.openxmlformats.org/officeDocument/2006/relationships/notesSlide" Target="/ppt/notesSlides/notesSlide13.xml" Id="Rc82fb10b47ed4f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0C199-F289-426E-A873-5C6E123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171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C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36D48-DA3D-4E00-B2BF-3D8D1173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038225"/>
            <a:ext cx="971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GreenLoop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00E88-BA04-4D78-9DD7-CC8498D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146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DF3E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DDF3E6"/>
                </a:solidFill>
                <a:latin typeface="Malgun Gothic"/>
                <a:ea typeface="Malgun Gothic"/>
                <a:cs typeface="Malgun Gothic"/>
              </a:rPr>
              <a:t>에너지와 이용자의 불편을 연결하는</a:t>
            </a:r>
          </a:p>
          <a:p xmlns:a="http://schemas.openxmlformats.org/drawingml/2006/main">
            <a:pPr>
              <a:defRPr sz="2925" b="1">
                <a:solidFill>
                  <a:srgbClr val="DDF3E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DDF3E6"/>
                </a:solidFill>
                <a:latin typeface="Malgun Gothic"/>
                <a:ea typeface="Malgun Gothic"/>
                <a:cs typeface="Malgun Gothic"/>
              </a:rPr>
              <a:t>노후 공공건축물 AI 사전점검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67572-7045-4CE9-A0F8-B4CA516B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33875"/>
            <a:ext cx="9525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→ 문진 → 현장조사 → 개선 검토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F6DA-B7F6-4FDF-9ABE-B8255D2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86740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DF3E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DF3E6"/>
                </a:solidFill>
                <a:latin typeface="Malgun Gothic"/>
                <a:ea typeface="Malgun Gothic"/>
                <a:cs typeface="Malgun Gothic"/>
              </a:rPr>
              <a:t>제6회 그린리모델링 챌린지 · 대학생 해커톤 · AI 플랫폼 아이디어</a:t>
            </a:r>
          </a:p>
        </p:txBody>
      </p:sp>
    </p:spTree>
    <p:extLst>
      <p:ext uri="{BB962C8B-B14F-4D97-AF65-F5344CB8AC3E}">
        <p14:creationId xmlns:p14="http://schemas.microsoft.com/office/powerpoint/2010/main" val="1018461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E5CD7-9823-45C5-8856-E17057FC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47E8B-52E6-4DA9-B513-15566DA3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사용량과 불편을 함께 봐야 조사 질문이 구체화된다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B43B-F123-49BD-BEA1-FE31346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904F5-41F4-4B59-8BEF-E1841C3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33F27-7E78-4A10-BA15-8BF9D1A5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8B8F2-05C3-41B9-9D41-902F802E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출처: 국토안전관리원 공공건축물 소비량 자료, UC Berkeley CBE 이용자 설문 [13쪽]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FB442-4C86-4803-AD98-202109E5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1447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에너지 데이터가 알려주는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A6E5D-3D01-4CE9-8F13-FC5328B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00062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건물 전체의 사용 수준과 보고 누락.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어느 방의 창호가 문제인지까지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알려주지는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F168D-A8A0-4536-9A38-71053DC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1447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이용자가 알려주는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50E87-F6C1-44C8-BA61-0433C9C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500062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덥거나 추운 장소·시간·상황.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건물 전체 소비량이나 공사 효과를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대신 측정하지는 않는다.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F9FCD-A66C-42D2-BFF9-AD42032B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5156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F6C09-FEB6-4DA6-B1DE-C72877C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9972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두 자료 사이에 필요한 것은 “현장에서 확인할 질문”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E39D3-6E1B-4E17-81B5-40E6FFA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52975"/>
            <a:ext cx="988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시설 담당자가 사실·이용자 진술·점검 가설을 구분한 요청서를 만든다.</a:t>
            </a:r>
          </a:p>
        </p:txBody>
      </p:sp>
    </p:spTree>
    <p:extLst>
      <p:ext uri="{BB962C8B-B14F-4D97-AF65-F5344CB8AC3E}">
        <p14:creationId xmlns:p14="http://schemas.microsoft.com/office/powerpoint/2010/main" val="1443061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A95D2-DC0C-4384-B51F-DB0471A7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AFB6-10F8-4825-BFB6-10B605A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한 건물의 조사 준비를 끝내는 다섯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50BCA-7035-4E6C-BD57-AEDD40B4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7D509-4A00-404B-8B26-BE850F0F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67FC1-DAD3-4B15-9050-3C6BC445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33478-D015-4295-8E74-043C153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114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97DEA-FA24-4418-8BCD-22591B64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1CAF0-EDC4-462E-B6C7-323C8DFD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건물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E24EA-8925-42F4-9A5C-15E79976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716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공개 목록에서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대상 한 동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1431F-99BA-4D4D-8F91-217CB0E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81150"/>
            <a:ext cx="2114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DBA6B-E497-408A-B796-74C4CDB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7526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87BA-643E-4C86-8AAA-CA794B8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621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에너지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4CB05-BE8D-4DFC-9E5F-13E76CC9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62250"/>
            <a:ext cx="17716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자료 품질 확인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유사 조건 참고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E2A95-8DB4-4F84-9EB8-17A79FA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2114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D8DF0-500B-4AD7-AE73-92B6D73B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5C499-5E63-45FF-9EDB-758E4228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621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불편 문진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D1D14-FA25-4749-BA36-EB161E5B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62250"/>
            <a:ext cx="17716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장소·시간·증상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누락·모순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5B1EB-7584-42EE-9C09-8C723307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581150"/>
            <a:ext cx="2114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A49E5-6ED2-4365-A6C7-E7ACB3F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7526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A74DD-EE6D-4CFB-8CDF-F3DD4A3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621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후보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C4924-C7EE-4541-8A44-D7E3D91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62250"/>
            <a:ext cx="17716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개선 후보별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필요한 증거 정리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517F1-3018-41D7-89E8-F8A33D38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81150"/>
            <a:ext cx="2114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DC9D4-C853-4DAF-8819-236653C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526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9D9B1-138F-47D2-A9EA-3FC18A0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조사 요청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A1B68-D17A-4D24-91A4-E0C86A2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17716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출처·보류 사유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요청서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10439-9355-4BD6-852B-41BD798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담당자는 근거를 확인하고 요청서를 수정한다. 공사 선택은 현장 전문가가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293152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1D90C-FE51-4C38-B356-D88C650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4E771-F5A0-43AD-841F-A456E16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첫 시연은 실제 확보한 공개자료에서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9CF5A-0B99-458A-BA84-3019684F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73210-5B94-4297-9089-18BB4CA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43DB7-F65F-42F1-AEB9-9D1B683E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62D83-8ADF-48C1-88E8-64B22132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자료: 공공데이터포털 3069931 · 2026.9.30 다운로드 및 기본 품질검사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BD244-56DF-444A-A7BD-13760144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4191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4,347행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A11C6-9333-4AF2-A8DB-6AAFED82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15개 열 · 원본 CSV 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B8189-68B2-42C4-B760-883D2A3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09700"/>
            <a:ext cx="4286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3,681행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1F5CE-810A-4809-90BC-66805F7B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622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기본 품질조건 통과 · 학습은 미실시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BB2F6-75DB-4634-AAD2-B53B351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692AD-2D52-4973-B16D-A138FD81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사용하는 필드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205CA-E71F-4CF6-B107-FFD3C603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5048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지역·용도·연면적·사용승인연도·층수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3개년 평균 1차 에너지 원단위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(kWh/㎡·년) 및 미보고 분기 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7FF5F-BFE8-4317-AF01-0135C6F8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데이터의 경계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C5A0B-A375-4FAB-99A8-D4BD4B4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57650"/>
            <a:ext cx="5048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3,000㎡ 이상 공공건축물 중심.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방별·월별 소비량, 단열재·창호 사양은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이 파일에 없다. 추가 정보는 문진·현장 확인.</a:t>
            </a:r>
          </a:p>
        </p:txBody>
      </p:sp>
    </p:spTree>
    <p:extLst>
      <p:ext uri="{BB962C8B-B14F-4D97-AF65-F5344CB8AC3E}">
        <p14:creationId xmlns:p14="http://schemas.microsoft.com/office/powerpoint/2010/main" val="801159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944C4-2EFA-4071-956C-9CF34466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A3E49-6A1E-4953-BFE2-E770A637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분석과 문진을 연결하는 근거 기록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05DEA-7602-4E9B-8105-26C3346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72A25-C212-4F05-B9DE-38F78F1D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9E9C1-F5CE-4970-9109-53837FD3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65411-B59C-4A83-AA46-621E759A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4619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00589-CDAC-4E34-9DCE-9B63ECB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9725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건물 데이터 → 분석 모델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A94E9-D9FB-42D5-87A1-44878CC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4162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품질검사 → 기준선·회귀 비교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관측값·참고 범위·불확실성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F845D-359D-420A-AA1E-02B2CF41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61962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F950C-42EB-4396-A8B0-16880431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이용자 응답 → 문진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87265-AB61-482A-9916-4DAA7421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162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장소·시간·상황 구조화 → 확인 질문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원문 인용·사용자 확인·보류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1249E-FAC5-420C-9A5D-A3A70B8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00300"/>
            <a:ext cx="809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56DFB-137B-4B2C-A28E-639F718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95450"/>
            <a:ext cx="4610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32A90-C837-4DA9-92E3-013F987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76425"/>
            <a:ext cx="4133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근거 기록 → 현장조사 요청서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E2E60-8E96-44F0-9532-4AA92957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1338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확인 사실   공개자료와 검사 결과</a:t>
            </a:r>
          </a:p>
          <a:p xmlns:a="http://schemas.openxmlformats.org/drawingml/2006/main">
            <a:pPr>
              <a:def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이용자 진술   응답과 확인 상태</a:t>
            </a:r>
          </a:p>
          <a:p xmlns:a="http://schemas.openxmlformats.org/drawingml/2006/main">
            <a:pPr>
              <a:def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점검 가설   원인 후보와 필요한 증거</a:t>
            </a:r>
          </a:p>
          <a:p xmlns:a="http://schemas.openxmlformats.org/drawingml/2006/main">
            <a:pPr>
              <a:def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보류   누락·모순·데이터 범위 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2FC4F-B69C-43EF-855C-F39DB85C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숫자·조건 검사와 필수 항목 확인은 규칙으로 처리한다. AI 결과는 사용자가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78515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945AB-0D91-434C-A963-7301E1B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E75BE-85AD-45D1-814E-8C92E12B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AI는 조건 관계 학습과 불편 표현의 구조화를 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F84CA-28B4-40EE-8AE7-5BA5417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A7D6-7438-4C89-A611-548B434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2EE44-920B-4FF5-8180-DBD25E1C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E8B39-A92B-4AEC-8AB4-BA85EBB6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표형 회귀 모델 · 핵심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9B905-26CF-49CF-A286-3D9D3F9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048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입력: 용도·지역·면적·연도·층수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방법: 비선형 회귀와 집계 중앙값 비교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출력: 조건별 참고 범위·비교 신호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검증: 건물 그룹 분리 MAE·구간 커버리지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1510A-3610-4DB9-9774-D9936857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사전학습 LLM ·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D3690-2160-487B-93BF-FE180D31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51435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입력: 동의받은 불편 자유문·확인 응답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방법: 정해진 필드 추출·추가 질문·근거 요약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출력: 인용이 있는 기록·조사 요청서 초안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검증: 추출 일치·모순 처리·근거 없는 문장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A6DA5-90A0-4857-B0B8-BAF93129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057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EC5D6-AB50-47D5-AEA1-5D2485D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053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AI가 계산하거나 확정하지 않는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3C459-9884-4AC3-B52C-026454C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10125"/>
            <a:ext cx="996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공사 원인 · 공간별 소비량 · 검증되지 않은 절감률. LLM 실패 시 구조화 문진으로 이어간다.</a:t>
            </a:r>
          </a:p>
        </p:txBody>
      </p:sp>
    </p:spTree>
    <p:extLst>
      <p:ext uri="{BB962C8B-B14F-4D97-AF65-F5344CB8AC3E}">
        <p14:creationId xmlns:p14="http://schemas.microsoft.com/office/powerpoint/2010/main" val="1509918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2CA0F-5C6A-4EFE-9193-9042327F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BC388-5A7B-4279-8875-5552356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화면 시안 · 불편을 조사 가능한 기록으로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AD99B-2F94-4220-915D-9CBCFD50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55691-63EC-4CA2-A018-01FB0F16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A3910-A32F-4F57-B791-9B7C95A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40C08-C697-43EE-B823-50D3C5FC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화면 구성 예시: 가상 도서관 응답. 실제 현장 조사·모델 결과가 아님.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43FA2-C6EA-490B-95F1-A25CEC7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62075"/>
            <a:ext cx="105346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3BEDD-DE2D-4C9A-8996-F240D4C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62075"/>
            <a:ext cx="2571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32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67670-C14E-414B-8A8E-174D34B3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5621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GreenLoop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8C41A-0CD4-4236-A843-F6E5B2C1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09800"/>
            <a:ext cx="21431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rPr>
              <a:t>공공도서관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rPr>
              <a:t>1  자료 확인</a:t>
            </a:r>
          </a:p>
          <a:p xmlns:a="http://schemas.openxmlformats.org/drawingml/2006/main">
            <a:pPr>
              <a:def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rPr>
              <a:t>2  에너지 비교</a:t>
            </a:r>
          </a:p>
          <a:p xmlns:a="http://schemas.openxmlformats.org/drawingml/2006/main">
            <a:pPr>
              <a:def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rPr>
              <a:t>3  불편 문진</a:t>
            </a:r>
          </a:p>
          <a:p xmlns:a="http://schemas.openxmlformats.org/drawingml/2006/main">
            <a:pPr>
              <a:def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rPr>
              <a:t>4  후보 검토</a:t>
            </a:r>
          </a:p>
          <a:p xmlns:a="http://schemas.openxmlformats.org/drawingml/2006/main">
            <a:pPr>
              <a:def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7F4EC"/>
                </a:solidFill>
                <a:latin typeface="Malgun Gothic"/>
                <a:ea typeface="Malgun Gothic"/>
                <a:cs typeface="Malgun Gothic"/>
              </a:rPr>
              <a:t>5  조사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AA6B9-938A-4A4B-A29F-61D0562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90675"/>
            <a:ext cx="741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“오후에 창가 자리가 너무 더워요.”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DAB0A-04A0-47D5-A85C-A80970F3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7647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추출한 내용 · 이용자 확인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CD047-4B4B-4314-A42F-402507E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43200"/>
            <a:ext cx="70961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DACE3-6063-4E4D-A475-5211541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43225"/>
            <a:ext cx="680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장소  창가 자리   |   시간  오후   |   불편  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BA131-733D-47F8-8E7A-FC30204C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05250"/>
            <a:ext cx="720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추가 질문: 어느 층인가요? 햇빛이 들 때 더운가요?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E5781-69F7-48EA-B908-15DCD5BB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8768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☐ 응답 확인    ☐ 정보 수정     → 점검 후보 보기</a:t>
            </a:r>
          </a:p>
        </p:txBody>
      </p:sp>
    </p:spTree>
    <p:extLst>
      <p:ext uri="{BB962C8B-B14F-4D97-AF65-F5344CB8AC3E}">
        <p14:creationId xmlns:p14="http://schemas.microsoft.com/office/powerpoint/2010/main" val="20572059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562AE2-6D54-45C9-9391-FFA270D6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1732B-9E52-4ECD-98BC-E3A3CC25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개선 후보를 고르기 전에 필요한 증거를 정리한다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75CEE-A821-43A9-8894-0F78FB7C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FD0D7-7FC6-493F-A1EA-E777C4F3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C3A89-28B8-4E90-A7C4-13678D67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2F8D2-66B2-459A-8B40-F431E86B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예시 상황: 오후 창가 더위. 원인을 확정한 결과가 아닌 조사 가설이다.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7D0A1-FE8C-48A5-9FCB-CA9799BD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4479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381A5-F1A9-4ECF-9769-37C5A0AE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점검 후보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AB345-108F-43FA-850A-D89C31E6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76375"/>
            <a:ext cx="37052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E75FC-6475-4F00-98D8-8914C423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19250"/>
            <a:ext cx="3400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연결된 진술·신호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48C2B-8DFF-4322-8B87-EDA84633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440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FD8A1-EE6A-46A5-915C-BF133E4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확인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A0988-CE4A-425D-8E73-8857A5CE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24479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89625-CD18-4F58-A0AB-B5809099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2143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차양·일사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3D833-474A-4185-8568-ABF4075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28825"/>
            <a:ext cx="37052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97177-E2FE-4B61-AE0C-1C9EF73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19325"/>
            <a:ext cx="3400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오후 · 창가 · 더위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016A3-4C3D-46EE-8AE7-F03E760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28825"/>
            <a:ext cx="44005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3AC9C-1039-41B7-97FB-DF5DE2DB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19325"/>
            <a:ext cx="4095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방향·일사·차양 유무·시간별 온도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E5239-790D-4351-BFA0-20C16CBD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4479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E7DDF-10F7-4D85-A81C-1642D8F8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143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창호·외피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CF2F0-32F6-4115-A43E-4EC8441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9900"/>
            <a:ext cx="37052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47FDF-C4C7-4365-B416-702B3285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00400"/>
            <a:ext cx="3400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창 주변 열감·바람 여부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05EE1-4822-4E60-9C4B-480FC542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4005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1A38F-6DCD-446C-8078-427CE676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4095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유리·프레임·기밀·단열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E723F-135C-4C60-9A81-F5B41369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24479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A466E-3FE1-472D-B470-9542B222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81475"/>
            <a:ext cx="2143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환기·냉방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92A15-95AB-4076-BB78-D2A6FB1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90975"/>
            <a:ext cx="37052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3DC45-02B1-4952-953F-5BE7F6D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81475"/>
            <a:ext cx="3400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이용시간·인원·운전 상태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017E9-E55C-468A-B79D-E398F16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0975"/>
            <a:ext cx="44005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2DED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0F34E-5DD7-44F6-9500-36681F96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81475"/>
            <a:ext cx="4095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운영기록·환기·냉방 조건·계량 범위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00E72B-081F-4DA9-AE59-45A4FECB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29225"/>
            <a:ext cx="1042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비교 결과는 “확인할 내용”이다. 절감 효과는 추가 현장정보와 별도 성능분석이 있어야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1100692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51425-0169-4586-A6F8-C64FE95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E6D26-9990-4761-8D4B-7B1EF145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ChatGPT에 파일을 올리는 것과 무엇이 다른가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B203B-454F-4DEB-B13B-D23A317C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401F5-A6A4-4CA9-A82C-3B050899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65AF8-8A93-445A-B29A-44D6FC8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FBB0-B072-47E9-AF9E-F62F315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범용 LLM과의 우월성은 아직 미검증. 아래 동작을 동일 입력으로 비교할 계획이다.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A5D1B-2BAA-4E9E-92AE-0E8431AA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대화에서 업무 기록으로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D527C-20C6-44F9-B75C-9ED5FF3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067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건물 ID·기간·단위를 고정하고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문진 결과와 원문 인용을 같은 기록에 저장.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사실·진술·점검 가설을 구분한다.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BF87E-B469-4F1D-870A-A5A1BC3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573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답변에서 확인 절차로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D303B-1EFA-4569-901A-955EECC2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95475"/>
            <a:ext cx="5067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보고 누락·비교군 부족·모순 응답에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판단을 보류하고 필요한 질문을 남긴다.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담당자가 확인한 요청서를 저장한다.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025D4-D4DC-4A6E-B388-22A992D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5346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16D52-6FB3-45C2-914C-B4FF0702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범용 LLM도 가능하다. 그래서 실제 비교가 필요하다.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55B92-8E9D-4169-9B13-2E53CA04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01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비교 대상: 같은 CSV·같은 불편 응답의 일반 LLM, 고정 설문, GreenLoop.</a:t>
            </a:r>
          </a:p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비교 항목: 기록 누락·근거 없는 결론·반복성·요청서 작성 시간.</a:t>
            </a:r>
          </a:p>
        </p:txBody>
      </p:sp>
    </p:spTree>
    <p:extLst>
      <p:ext uri="{BB962C8B-B14F-4D97-AF65-F5344CB8AC3E}">
        <p14:creationId xmlns:p14="http://schemas.microsoft.com/office/powerpoint/2010/main" val="60111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55E12-460E-4317-A5B7-FE75B4F2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288DA-7D8B-420E-987C-CDFD6A29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본선에서 성능과 조사 준비의 가치를 따로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74590-3964-44E1-844E-6847E07B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91D0A-08A7-47EB-8BC2-BAC09F31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F7126-C160-4229-B0D5-8D247F6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D9F31-76B9-45CA-BF7F-D8FCC435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01 · 에너지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3128D-FB48-4A63-AE4F-514BA55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5067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동일 주소·기관을 묶어 학습/평가 분리.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중앙값 기준선 대비 MAE·구간 커버리지.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주소·기관명·공개 중간값은 학습에서 제외.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992B4-DBC5-409B-B306-930D0A82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02 · 문진과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40A8E-A19C-4F1A-AC98-8B786AE0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19275"/>
            <a:ext cx="5067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동의받은 응답 또는 가상 평가 사례 사용.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필드 추출·누락 질문·모순 처리 검토.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생성 문장의 원문 근거와 사용자 확인 검사.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EC388-7D76-48DC-A8C1-1D38D94D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03 · 실패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D26AC-8A60-4939-B824-51C08051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50673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미보고·0값·비교군 부족은 판단 보류.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LLM 장애는 구조화 입력폼으로 전환.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근거 없는 절감률·원인 단정은 차단.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4232F-94B7-436D-861C-FDA95F4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04 · 실제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93693-031C-432B-8FD2-4D5EA11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71925"/>
            <a:ext cx="50673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시설 담당자가 요청서 완성 과정을 검토.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고정 설문·범용 LLM과 누락·소요시간 비교.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아직 사용자 실험·현장 효과 측정은 미실시.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AD3D9-A3E7-4129-9D0A-99D5C63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4C2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A4C25"/>
                </a:solidFill>
                <a:latin typeface="Malgun Gothic"/>
                <a:ea typeface="Malgun Gothic"/>
                <a:cs typeface="Malgun Gothic"/>
              </a:rPr>
              <a:t>목표: 조사 준비의 누락을 줄인다. 리모델링 절감률·현장 원인 적중률을 이 자료로 입증하지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19114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894898-DB2B-4615-893C-E4335AC6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4233E-8F80-4110-B58E-F34A11B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본선 최소 구현은 네 역할로 나눌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F4970-7872-4FA0-9A84-8F8B1B45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DFDD6-3D81-49B0-8AB8-EF666117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E3027-4076-4D80-93E6-FBB63C2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67227-8514-4F5C-B27E-9CDF8C5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작업량 44~68인시: 기본 웹·Python 경험을 전제로 한 내부 추정. 학습시간 별도.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86620-D5B2-41EE-86BC-5C6B1EF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533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E881-00FD-4BDA-B003-286FF45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87383-3E6A-42EE-9C53-0AE6759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데이터·평가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6B3C9-91BD-4C43-B6CA-560DE58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1907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CSV 품질·중앙값·회귀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그룹 분리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633BF-B0FB-457B-AB12-559794F6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14~22인시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B9367-3E26-4064-9AA2-F2B559BC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2533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EC53F-0819-4B95-803B-DB0F70CC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00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5C737-7F79-4B19-BF2E-E4EC6920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웹·문진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3E69-A853-42A7-A74F-6790DD3F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21907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건물 선택·구조화 문진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응답 확인·화면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02CA2-AFA0-4826-A6A3-4D8D3F40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12~18인시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05D0B-D0A4-417C-9FBE-3585119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2533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6BBD5-F099-4CF8-9C98-66498537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89E17-5857-454C-ACB5-5233EFA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LLM·기록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4FC17-E36B-4245-93F4-411A878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21907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실행환경 확인 후 연결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근거 인용·요청서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FA3BC-D85B-4DDB-A336-53E73DA7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10~16인시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6A3E9-5B78-4266-8074-C1A9E354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533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BC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4B269-2C36-48B7-AA8C-DAA83DFE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0671E-BC34-4349-AA72-DA289FC1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검증·시연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57353-D7A7-464A-B21B-027FC0A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1907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실패 경로·파일 저장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사용자 검토·시연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E84F7-A3B8-44F9-8483-EADCD4DC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8~12인시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FC67C-EA17-4648-9E7A-C10181D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진출 확인 후 핵심 흐름 구현 → 기준선·모델 평가 → 문진 연결 → 통합 시연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E1A51-351A-4AD7-BC34-F2FFE1B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LLM 키·비용 또는 로컬 실행이 확보되지 않으면 구조화 문진으로 진행한다.</a:t>
            </a:r>
          </a:p>
          <a:p xmlns:a="http://schemas.openxmlformats.org/drawingml/2006/main">
            <a:pPr>
              <a:def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실시간 API·도면 자동 조회·정량 에너지 시뮬레이션은 초기 구현에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84780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CCF1F-DA55-4C6A-B3E3-C3EA66B2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19812-F1B8-4DD9-A04D-7BBC394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GreenLoop를 선택한 이유와 발전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F77E6-80FA-44DB-9C1C-49C49119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BEE19-CA75-4C53-BDD9-BDD0FB32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9FABD-A530-40F8-A7AF-AB84FEB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C07E4-A7C0-4618-805D-A5BC0469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기존 기능: Greeny 공사 시나리오 분석, CBE 분기 설문·건물 비교 [13쪽]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CF074-CC1F-4894-B916-8B5D91A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507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선택한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D2A50-335D-49BE-B27F-F280F8D1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50768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실제 접근 가능한 데이터로 시작하고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이용자 특성을 문진으로 연결할 수 있다.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예선 아이디어를 한 건물 흐름으로 시연 가능.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8775D-8B02-40E8-83BF-7549C8A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38275"/>
            <a:ext cx="507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기존 서비스와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10013-B07A-4AD3-883A-D0A4578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0768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Greeny의 상세 분석 전 자료를 정리하고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기존 이용자 설문의 개념을 참고하여</a:t>
            </a:r>
          </a:p>
          <a:p xmlns:a="http://schemas.openxmlformats.org/drawingml/2006/main">
            <a:pPr>
              <a:def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국내 공개자료·현장조사 기록으로 연결한다.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5AD60-F140-4D61-AE9C-C08AC2E8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5441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6A891-C31B-4061-B970-EA6BA0E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기대효과는 조사 준비의 누락 감소 · 검증은 본선에서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A9022-7261-473D-B1A0-C348D5A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24400"/>
            <a:ext cx="1002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확장 순서: 실제 시설 검토 → 여러 건물 조사 우선순위 → 공사 전후 체감·사용량 확인.</a:t>
            </a:r>
          </a:p>
          <a:p xmlns:a="http://schemas.openxmlformats.org/drawingml/2006/main">
            <a:pPr>
              <a:def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분석 범위가 다른 소형 민간 건물은 추가 데이터와 검증 후 확장한다.</a:t>
            </a:r>
          </a:p>
        </p:txBody>
      </p:sp>
    </p:spTree>
    <p:extLst>
      <p:ext uri="{BB962C8B-B14F-4D97-AF65-F5344CB8AC3E}">
        <p14:creationId xmlns:p14="http://schemas.microsoft.com/office/powerpoint/2010/main" val="3287737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352CF-DA24-449E-BAAB-22A1DED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85FC-E9E5-46B8-85B1-9C8C55C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외부 자료와 생성형 AI 활용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4B8F7-6D50-4C35-829F-D1F38ED2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BBE61-B9F7-4551-852A-8A3CD4F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GreenLoop · AI 플랫폼 아이디어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932BF-AF96-4170-A5B5-6E6B0ED7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227DB-37D0-4249-9214-031D1830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공공건축물 에너지 소비량 · 국토안전관리원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EF7AB-A148-4E60-93F9-552AB703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https://www.data.go.kr/data/3069931/fileData.do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EB99B-A7F8-4EE5-8FA5-45BDEBC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Greeny 분석시스템 · 그린리모델링 창조센터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F95EC-54ED-4EB6-86AD-6E668914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https://www.greenremodeling.or.kr/greeny_origin/pages/s01_01.asp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12D16-A435-4C65-BBEC-2163113C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Occupant Survey · UC Berkeley CBE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C351B-A951-48AA-808B-534D9D6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https://cbe.berkeley.edu/research/occupant-survey-and-building-benchmarking/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AAA84-74F7-44AF-A559-23647C2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건축HUB 월별 에너지 API · 초기 구현에서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95FF0-0915-4CD6-ABBA-DD03BE0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E6157"/>
                </a:solidFill>
                <a:latin typeface="Malgun Gothic"/>
                <a:ea typeface="Malgun Gothic"/>
                <a:cs typeface="Malgun Gothic"/>
              </a:rPr>
              <a:t>https://www.data.go.kr/data/15135963/openapi.do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2921-E48F-49C9-8373-923E95F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52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A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B1296-6FAA-4C7E-823E-B84CC430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7452"/>
                </a:solidFill>
                <a:latin typeface="Malgun Gothic"/>
                <a:ea typeface="Malgun Gothic"/>
                <a:cs typeface="Malgun Gothic"/>
              </a:rPr>
              <a:t>생성형 AI: OpenAI 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5766B-196D-4A77-917C-383D393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활용 범위: 후보 조사·비교, 문안·화면 시안, 공식 서식 및 제출파일 작성.</a:t>
            </a:r>
          </a:p>
          <a:p xmlns:a="http://schemas.openxmlformats.org/drawingml/2006/main">
            <a:pPr>
              <a:defRPr sz="15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자료 확인: 2026.9.30. 모델 학습·LLM 실행·현장 검증은 미실시.</a:t>
            </a:r>
          </a:p>
          <a:p xmlns:a="http://schemas.openxmlformats.org/drawingml/2006/main">
            <a:pPr>
              <a:defRPr sz="15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329"/>
                </a:solidFill>
                <a:latin typeface="Malgun Gothic"/>
                <a:ea typeface="Malgun Gothic"/>
                <a:cs typeface="Malgun Gothic"/>
              </a:rPr>
              <a:t>확보한 수치는 공개 CSV의 행·열 수와 기본 검사 결과이며 절감 효과가 아니다.</a:t>
            </a:r>
          </a:p>
        </p:txBody>
      </p:sp>
    </p:spTree>
    <p:extLst>
      <p:ext uri="{BB962C8B-B14F-4D97-AF65-F5344CB8AC3E}">
        <p14:creationId xmlns:p14="http://schemas.microsoft.com/office/powerpoint/2010/main" val="713817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2026-09-30T01:34:36.5650000Z</dcterms:created>
  <dcterms:modified xsi:type="dcterms:W3CDTF">2026-09-30T01:34:36.5650000Z</dcterms:modified>
</coreProperties>
</file>