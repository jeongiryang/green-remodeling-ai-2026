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f8d7047c474c67" /><Relationship Type="http://schemas.openxmlformats.org/officeDocument/2006/relationships/extended-properties" Target="/docProps/app.xml" Id="Ref12cdab9d444ab5" /><Relationship Type="http://schemas.openxmlformats.org/officeDocument/2006/relationships/officeDocument" Target="/ppt/presentation.xml" Id="R42dbdfebf8fe45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c64ace9e5c4aa7"/>
  </p:sldMasterIdLst>
  <p:notesMasterIdLst>
    <p:notesMasterId xmlns:r="http://schemas.openxmlformats.org/officeDocument/2006/relationships" r:id="Ra14408e5ad774065"/>
  </p:notesMasterIdLst>
  <p:sldIdLst>
    <p:sldId xmlns:r="http://schemas.openxmlformats.org/officeDocument/2006/relationships" id="256" r:id="R3343ef68b7c54a16"/>
    <p:sldId xmlns:r="http://schemas.openxmlformats.org/officeDocument/2006/relationships" id="257" r:id="Rcecd27289a5943ba"/>
    <p:sldId xmlns:r="http://schemas.openxmlformats.org/officeDocument/2006/relationships" id="258" r:id="R8474a53b75234007"/>
    <p:sldId xmlns:r="http://schemas.openxmlformats.org/officeDocument/2006/relationships" id="259" r:id="Ra45c1ca038eb4aae"/>
    <p:sldId xmlns:r="http://schemas.openxmlformats.org/officeDocument/2006/relationships" id="260" r:id="Ra2ea1291ea9a4234"/>
    <p:sldId xmlns:r="http://schemas.openxmlformats.org/officeDocument/2006/relationships" id="261" r:id="R7262b366cb8e4319"/>
    <p:sldId xmlns:r="http://schemas.openxmlformats.org/officeDocument/2006/relationships" id="262" r:id="R1ace4fbc09104c27"/>
    <p:sldId xmlns:r="http://schemas.openxmlformats.org/officeDocument/2006/relationships" id="263" r:id="Rf088b2a8d1964c0d"/>
    <p:sldId xmlns:r="http://schemas.openxmlformats.org/officeDocument/2006/relationships" id="264" r:id="Ra79e77e7439f4d06"/>
    <p:sldId xmlns:r="http://schemas.openxmlformats.org/officeDocument/2006/relationships" id="265" r:id="R72ec0f182c0d44d1"/>
    <p:sldId xmlns:r="http://schemas.openxmlformats.org/officeDocument/2006/relationships" id="266" r:id="R3b9acf54d5364b36"/>
    <p:sldId xmlns:r="http://schemas.openxmlformats.org/officeDocument/2006/relationships" id="267" r:id="Rc2bab5dfe2d2423b"/>
    <p:sldId xmlns:r="http://schemas.openxmlformats.org/officeDocument/2006/relationships" id="268" r:id="R1e74885014424d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0c559c6dd5c4749" /><Relationship Type="http://schemas.openxmlformats.org/officeDocument/2006/relationships/slideMaster" Target="/ppt/slideMasters/slideMaster1.xml" Id="Rcfc64ace9e5c4aa7" /><Relationship Type="http://schemas.openxmlformats.org/officeDocument/2006/relationships/notesMaster" Target="/ppt/notesMasters/notesMaster1.xml" Id="Ra14408e5ad774065" /><Relationship Type="http://schemas.openxmlformats.org/officeDocument/2006/relationships/presProps" Target="/ppt/presProps.xml" Id="R92b22014e4664cf6" /><Relationship Type="http://schemas.openxmlformats.org/officeDocument/2006/relationships/tableStyles" Target="/ppt/tableStyles.xml" Id="R0de522fe41ad4ed9" /><Relationship Type="http://schemas.openxmlformats.org/officeDocument/2006/relationships/slide" Target="/ppt/slides/slide1.xml" Id="R3343ef68b7c54a16" /><Relationship Type="http://schemas.openxmlformats.org/officeDocument/2006/relationships/slide" Target="/ppt/slides/slide2.xml" Id="Rcecd27289a5943ba" /><Relationship Type="http://schemas.openxmlformats.org/officeDocument/2006/relationships/slide" Target="/ppt/slides/slide3.xml" Id="R8474a53b75234007" /><Relationship Type="http://schemas.openxmlformats.org/officeDocument/2006/relationships/slide" Target="/ppt/slides/slide4.xml" Id="Ra45c1ca038eb4aae" /><Relationship Type="http://schemas.openxmlformats.org/officeDocument/2006/relationships/slide" Target="/ppt/slides/slide5.xml" Id="Ra2ea1291ea9a4234" /><Relationship Type="http://schemas.openxmlformats.org/officeDocument/2006/relationships/slide" Target="/ppt/slides/slide6.xml" Id="R7262b366cb8e4319" /><Relationship Type="http://schemas.openxmlformats.org/officeDocument/2006/relationships/slide" Target="/ppt/slides/slide7.xml" Id="R1ace4fbc09104c27" /><Relationship Type="http://schemas.openxmlformats.org/officeDocument/2006/relationships/slide" Target="/ppt/slides/slide8.xml" Id="Rf088b2a8d1964c0d" /><Relationship Type="http://schemas.openxmlformats.org/officeDocument/2006/relationships/slide" Target="/ppt/slides/slide9.xml" Id="Ra79e77e7439f4d06" /><Relationship Type="http://schemas.openxmlformats.org/officeDocument/2006/relationships/slide" Target="/ppt/slides/slide10.xml" Id="R72ec0f182c0d44d1" /><Relationship Type="http://schemas.openxmlformats.org/officeDocument/2006/relationships/slide" Target="/ppt/slides/slide11.xml" Id="R3b9acf54d5364b36" /><Relationship Type="http://schemas.openxmlformats.org/officeDocument/2006/relationships/slide" Target="/ppt/slides/slide12.xml" Id="Rc2bab5dfe2d2423b" /><Relationship Type="http://schemas.openxmlformats.org/officeDocument/2006/relationships/slide" Target="/ppt/slides/slide13.xml" Id="R1e74885014424d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a90a459d4a40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4189789c294ba4" /><Relationship Type="http://schemas.openxmlformats.org/officeDocument/2006/relationships/notesMaster" Target="/ppt/notesMasters/notesMaster1.xml" Id="R2e3a9f9f78934fd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9d34a3980a452c" /><Relationship Type="http://schemas.openxmlformats.org/officeDocument/2006/relationships/notesMaster" Target="/ppt/notesMasters/notesMaster1.xml" Id="Rfca9b8e30f2a4b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9d03a0cadf4df5" /><Relationship Type="http://schemas.openxmlformats.org/officeDocument/2006/relationships/notesMaster" Target="/ppt/notesMasters/notesMaster1.xml" Id="Rc6f2c2f4879b49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85748346d846fd" /><Relationship Type="http://schemas.openxmlformats.org/officeDocument/2006/relationships/notesMaster" Target="/ppt/notesMasters/notesMaster1.xml" Id="Re9b82625b5524f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b4394ce4fe4b22" /><Relationship Type="http://schemas.openxmlformats.org/officeDocument/2006/relationships/notesMaster" Target="/ppt/notesMasters/notesMaster1.xml" Id="R8f07b5293be2406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e84246974d4dc4" /><Relationship Type="http://schemas.openxmlformats.org/officeDocument/2006/relationships/notesMaster" Target="/ppt/notesMasters/notesMaster1.xml" Id="Rda213e840d61497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17fae7820d64215" /><Relationship Type="http://schemas.openxmlformats.org/officeDocument/2006/relationships/notesMaster" Target="/ppt/notesMasters/notesMaster1.xml" Id="Rb13eac781c734f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e5c3cdd50cf43a6" /><Relationship Type="http://schemas.openxmlformats.org/officeDocument/2006/relationships/notesMaster" Target="/ppt/notesMasters/notesMaster1.xml" Id="Rb7ca0461b2744c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0701da8ad774959" /><Relationship Type="http://schemas.openxmlformats.org/officeDocument/2006/relationships/notesMaster" Target="/ppt/notesMasters/notesMaster1.xml" Id="Rfacfbddc9bfd48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16829132a324d06" /><Relationship Type="http://schemas.openxmlformats.org/officeDocument/2006/relationships/notesMaster" Target="/ppt/notesMasters/notesMaster1.xml" Id="Rde124bf499d64b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52324c158446ac" /><Relationship Type="http://schemas.openxmlformats.org/officeDocument/2006/relationships/notesMaster" Target="/ppt/notesMasters/notesMaster1.xml" Id="R15495b8eab734fc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fc228f8b6c44a8b" /><Relationship Type="http://schemas.openxmlformats.org/officeDocument/2006/relationships/notesMaster" Target="/ppt/notesMasters/notesMaster1.xml" Id="R1ac738e801df48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bdee0d8f8e24abc" /><Relationship Type="http://schemas.openxmlformats.org/officeDocument/2006/relationships/notesMaster" Target="/ppt/notesMasters/notesMaster1.xml" Id="R769c60079eee42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GreenLoop는 노후 공공시설 담당자의 리모델링 조사 준비를 지원하는 AI 플랫폼 아이디어다. 표지의 건물·문진·요청서 일러스트는 개념 설명용이다.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https://www.data.go.kr/data/3069931/fileData.do</a:t>
            </a:r>
          </a:p>
          <a:p xmlns:a="http://schemas.openxmlformats.org/drawingml/2006/main">
            <a:r>
              <a:t>https://cbe.berkeley.edu/research/occupant-survey-and-building-benchmarking/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 화면 구성안은 가상 이용 사례를 보여준다. OpenAI 이미지 생성으로 제작했으며 실존 도서관의 관측값이나 측정한 개선 효과를 사용하지 않았다.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서비스 흐름: 건물 선택, 에너지 비교, AI 불편 문진, 개선 후보 비교, 조사 요청서 생성. OpenAI 이미지 생성으로 제작한 설명용 흐름도다.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https://www.data.go.kr/data/3069931/fileData.do</a:t>
            </a:r>
          </a:p>
          <a:p xmlns:a="http://schemas.openxmlformats.org/drawingml/2006/main">
            <a:r>
              <a:t>확보 CSV 4347행·15열. 3개년 평균 1차 에너지 소비량 원단위와 건물 조건을 활용하는 설계.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웹 화면, Python 기반 에너지 분석과 LLM 처리, 건물·응답 저장, PDF 요청서 생성을 연결하는 서비스 설계. 회귀 결과와 문진 내용을 원인 확정 또는 실측 절감률로 전환하지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적용 설계. 회귀는 건물 조건을 반영한 사용 수준 비교를 맡고 LLM은 불편의 구조화 추출·맥락 질문·근거 요약을 맡는다. https://www.data.go.kr/data/3069931/fileData.do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가상 문진 사례와 후보 연결을 설명한다. 비교 결과를 현장 원인 확정이나 개선 효과 보장으로 표현하지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범용 LLM의 기능 불가능 또는 측정한 성능 우위를 주장하지 않는다. 건물 자료·확인된 문진 응답·표준 조사 항목·PDF 저장을 하나의 업무 흐름으로 연결하는 서비스를 제안한다.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블라인드 심사자료에 개인 이름을 표시하지 않는다. 사용자 요청으로 정한 4인 기술 책임은 신청서와 팀 현황에 배정했다. 실제 경력·숙련도를 주장하지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https://www.greenremodeling.or.kr/greeny_origin/pages/s01_01.asp</a:t>
            </a:r>
          </a:p>
          <a:p xmlns:a="http://schemas.openxmlformats.org/drawingml/2006/main">
            <a:r>
              <a:t>https://cbe.berkeley.edu/research/occupant-survey-and-building-benchmarking/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https://www.data.go.kr/data/3069931/fileData.do</a:t>
            </a:r>
          </a:p>
          <a:p xmlns:a="http://schemas.openxmlformats.org/drawingml/2006/main">
            <a:r>
              <a:t>https://www.greenremodeling.or.kr/greeny_origin/pages/s01_01.asp</a:t>
            </a:r>
          </a:p>
          <a:p xmlns:a="http://schemas.openxmlformats.org/drawingml/2006/main">
            <a:r>
              <a:t>https://cbe.berkeley.edu/research/occupant-survey-and-building-benchmarking/</a:t>
            </a:r>
          </a:p>
          <a:p xmlns:a="http://schemas.openxmlformats.org/drawingml/2006/main">
            <a:r>
              <a:t>외부 자료와 생성형 AI 도구 활용을 공개한다. 관측되지 않은 개선 효과나 모델 성능을 수치로 만들지 않았다.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344cb340b9452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5e62a6f7334862" /><Relationship Type="http://schemas.openxmlformats.org/officeDocument/2006/relationships/slideLayout" Target="/ppt/slideLayouts/slideLayout1.xml" Id="Ra0e0500f5b38406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0e0500f5b38406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f441c13bf4e93" /><Relationship Type="http://schemas.openxmlformats.org/officeDocument/2006/relationships/image" Target="/ppt/media/image.png" Id="R521a9a1d243a4c74" /><Relationship Type="http://schemas.openxmlformats.org/officeDocument/2006/relationships/notesSlide" Target="/ppt/notesSlides/notesSlide1.xml" Id="R65fe7728401140f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0e5ae4a504dec" /><Relationship Type="http://schemas.openxmlformats.org/officeDocument/2006/relationships/notesSlide" Target="/ppt/notesSlides/notesSlide2.xml" Id="R427360251fbe4d1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0d858c57a344d7" /><Relationship Type="http://schemas.openxmlformats.org/officeDocument/2006/relationships/image" Target="/ppt/media/image2.png" Id="Rd670528c64c941ef" /><Relationship Type="http://schemas.openxmlformats.org/officeDocument/2006/relationships/notesSlide" Target="/ppt/notesSlides/notesSlide3.xml" Id="R7a327d24e4ab46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41688371304b9b" /><Relationship Type="http://schemas.openxmlformats.org/officeDocument/2006/relationships/image" Target="/ppt/media/image3.png" Id="R83f8b6c54608467e" /><Relationship Type="http://schemas.openxmlformats.org/officeDocument/2006/relationships/notesSlide" Target="/ppt/notesSlides/notesSlide4.xml" Id="R3293a24ef9644ac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9071d406c4809" /><Relationship Type="http://schemas.openxmlformats.org/officeDocument/2006/relationships/notesSlide" Target="/ppt/notesSlides/notesSlide5.xml" Id="Rd5c26ddcef2149d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fa88f30063499d" /><Relationship Type="http://schemas.openxmlformats.org/officeDocument/2006/relationships/notesSlide" Target="/ppt/notesSlides/notesSlide6.xml" Id="Rb4657c390f45491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6a87423db418b" /><Relationship Type="http://schemas.openxmlformats.org/officeDocument/2006/relationships/notesSlide" Target="/ppt/notesSlides/notesSlide7.xml" Id="Rca99bfd23c4545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b56be603a84a73" /><Relationship Type="http://schemas.openxmlformats.org/officeDocument/2006/relationships/notesSlide" Target="/ppt/notesSlides/notesSlide8.xml" Id="R4caebe1b21f943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45a24d054049d6" /><Relationship Type="http://schemas.openxmlformats.org/officeDocument/2006/relationships/notesSlide" Target="/ppt/notesSlides/notesSlide9.xml" Id="Rb3226bf2d00d49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cc3ca1d984263" /><Relationship Type="http://schemas.openxmlformats.org/officeDocument/2006/relationships/notesSlide" Target="/ppt/notesSlides/notesSlide10.xml" Id="R49babe289651458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453c1a57f43bb" /><Relationship Type="http://schemas.openxmlformats.org/officeDocument/2006/relationships/notesSlide" Target="/ppt/notesSlides/notesSlide11.xml" Id="Rf55c7195f08a402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fe42fa702a499a" /><Relationship Type="http://schemas.openxmlformats.org/officeDocument/2006/relationships/notesSlide" Target="/ppt/notesSlides/notesSlide12.xml" Id="R8464a3393d374a2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6ac111f654182" /><Relationship Type="http://schemas.openxmlformats.org/officeDocument/2006/relationships/notesSlide" Target="/ppt/notesSlides/notesSlide13.xml" Id="Rb8fff87014db4b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E6BBA-C6CA-4A45-8D54-4F70F259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076450"/>
            <a:ext cx="7429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건물 에너지와 이용자 불편을 연결하는</a:t>
            </a:r>
          </a:p>
          <a:p xmlns:a="http://schemas.openxmlformats.org/drawingml/2006/main">
            <a:pPr>
              <a:defRPr sz="32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32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GreenLoop AI 조사 플랫폼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F54A98-97DA-4AA5-B1A0-5428C108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695700"/>
            <a:ext cx="752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노후 공공시설의 데이터·불편·개선 후보를 한 기록으로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D436D3-ED1F-48C7-8909-C4D52B5A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91025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FEC60E-F607-4DC8-B947-1E423F4B7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638675"/>
            <a:ext cx="73818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제6회 그린리모델링 챌린지</a:t>
            </a:r>
          </a:p>
          <a:p xmlns:a="http://schemas.openxmlformats.org/drawingml/2006/main">
            <a:pPr>
              <a:defRPr sz="15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대학생 해커톤 · AI 플랫폼 아이디어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1a9a1d243a4c74"/>
          <a:stretch xmlns:a="http://schemas.openxmlformats.org/drawingml/2006/main"/>
        </p:blipFill>
        <p:spPr>
          <a:xfrm xmlns:a="http://schemas.openxmlformats.org/drawingml/2006/main">
            <a:off x="8286750" y="1530586"/>
            <a:ext cx="3333750" cy="351107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45336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EB3CD9-7790-4491-96BB-BFB35B24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노후시설의 리모델링 조사 준비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BC0FA-D104-44EA-B8F4-A47D6C87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AA99F8-E336-4AE9-929F-4D25B98E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02932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자료·설문 개념 참고: 국토안전관리원 공공건축물 소비량 · UC Berkeley CBE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4A50F-C2D4-4CEB-B924-2E4680AC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873EC3-F9F2-479A-B47E-91542465D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4B3879-2B63-489B-9DF0-A32669BE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51625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에너지 자료는 건물 전체를 보여준다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B99ACE-1A7C-4D5A-9FFD-A6E708F2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14525"/>
            <a:ext cx="516255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지역·용도·면적·준공 시기를 고려해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비슷한 건물과 소비량을 비교한다.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실제 불편이 생기는 위치와 상황은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이용자에게 함께 물어야 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C9979-155A-483F-B478-D14D2D77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438275"/>
            <a:ext cx="50196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불편 표현은 생활 맥락을 담고 있다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BF9E19-9D35-4C88-A4A1-F99D8AE0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914525"/>
            <a:ext cx="5019675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“창가가 덥다”, “오전에 춥다”처럼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짧은 표현만으로는 조사 항목이 모호하다.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장소·시간·증상·이용 상황을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구체화해 시설 담당자에게 전달한다.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B6F92C-E8D4-4A89-8F9E-651A091C4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81500"/>
            <a:ext cx="10734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0E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B377A-D0A5-4D0C-9D56-33BBE5B4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4342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시설 담당자에게 필요한 질문: 어디를, 무엇부터 살펴볼까?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ADC985-F974-4A7A-BC09-199A5EF1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91100"/>
            <a:ext cx="10287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에너지 자료와 이용자 응답을 연결해 전문가에게 전달할 조사 요청서를 만든다.</a:t>
            </a:r>
          </a:p>
        </p:txBody>
      </p:sp>
    </p:spTree>
    <p:extLst>
      <p:ext uri="{BB962C8B-B14F-4D97-AF65-F5344CB8AC3E}">
        <p14:creationId xmlns:p14="http://schemas.microsoft.com/office/powerpoint/2010/main" val="17299263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7F3E8F-93F4-4E5D-8E06-C66FE61C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이용자의 불편이 개선 후보와 점검 항목으로 연결된다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2EC530-B3A0-4AAD-BE47-56C506E46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76755-2F5C-4A7B-8063-C8EC7C53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02932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서비스 화면 구성안 · 가상 공공도서관의 오후 창가 더위 사례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71101F-42A1-4AF5-969D-BF7F9EE19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228BA-0025-4AF3-9F10-9ECF0564D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70528c64c941ef"/>
          <a:stretch xmlns:a="http://schemas.openxmlformats.org/drawingml/2006/main"/>
        </p:blipFill>
        <p:spPr>
          <a:xfrm xmlns:a="http://schemas.openxmlformats.org/drawingml/2006/main">
            <a:off x="762000" y="1204038"/>
            <a:ext cx="7839075" cy="4411824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1774F-0B2F-4CC5-9F5E-259F166C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14475"/>
            <a:ext cx="2571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이용자 응답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A27E9D-97F9-4229-A292-C320342F6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90725"/>
            <a:ext cx="257175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“오후에 창가 자리가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너무 더워요.”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1BD5B-8129-419A-8032-C7B5EF55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33750"/>
            <a:ext cx="2571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조사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F52CE3-FCB3-43D4-AE16-42C761D1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10000"/>
            <a:ext cx="25717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차양과 일사 유입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창호와 외피 상태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환기와 냉방 운전</a:t>
            </a:r>
          </a:p>
        </p:txBody>
      </p:sp>
    </p:spTree>
    <p:extLst>
      <p:ext uri="{BB962C8B-B14F-4D97-AF65-F5344CB8AC3E}">
        <p14:creationId xmlns:p14="http://schemas.microsoft.com/office/powerpoint/2010/main" val="10905678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0310D-781F-4EEF-BA79-D687ECC0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건물 선택부터 조사 요청서까지 이어지는 서비스 흐름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765304-FB32-49B9-B3B3-FE1A6A46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9DA48B-C9B8-4BC6-B374-6FD7E6B1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C6FB27-8172-4581-88D1-A341A909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f8b6c54608467e"/>
          <a:stretch xmlns:a="http://schemas.openxmlformats.org/drawingml/2006/main"/>
        </p:blipFill>
        <p:spPr>
          <a:xfrm xmlns:a="http://schemas.openxmlformats.org/drawingml/2006/main">
            <a:off x="733425" y="1554163"/>
            <a:ext cx="10734675" cy="35782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6A8BC0-FBD0-415A-8835-0FF990E8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86400"/>
            <a:ext cx="10668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897D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1">
                <a:solidFill>
                  <a:srgbClr val="20897D"/>
                </a:solidFill>
                <a:latin typeface="Noto Sans KR"/>
                <a:ea typeface="Noto Sans KR"/>
                <a:cs typeface="Noto Sans KR"/>
              </a:rPr>
              <a:t>각 단계의 자료와 응답을 다음 단계에 전달해 반복 입력을 줄인다</a:t>
            </a:r>
          </a:p>
        </p:txBody>
      </p:sp>
    </p:spTree>
    <p:extLst>
      <p:ext uri="{BB962C8B-B14F-4D97-AF65-F5344CB8AC3E}">
        <p14:creationId xmlns:p14="http://schemas.microsoft.com/office/powerpoint/2010/main" val="110364052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90AC4E-3D65-4A97-A082-A92EAFB6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국토안전관리원의 공개 공공건축물 데이터를 활용한다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6BEFD0-F6CF-488D-96EE-75499C70C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B17ADC-8C9F-4989-88F6-924731A1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02932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출처: 공공데이터포털 「국토안전관리원_공공건축물 에너지 소비량_20260331」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86768F-D766-4A7E-82E8-B6233E13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389A31-52CB-4F19-B03D-5D0C36B1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37DD5F-801A-49BC-88AB-3713C26CB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85875"/>
            <a:ext cx="5143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20897D"/>
                </a:solidFill>
                <a:latin typeface="Noto Sans KR"/>
                <a:ea typeface="Noto Sans KR"/>
                <a:cs typeface="Noto Sans KR"/>
              </a:defRPr>
            </a:pPr>
            <a:r>
              <a:rPr sz="4650" b="1">
                <a:solidFill>
                  <a:srgbClr val="20897D"/>
                </a:solidFill>
                <a:latin typeface="Noto Sans KR"/>
                <a:ea typeface="Noto Sans KR"/>
                <a:cs typeface="Noto Sans KR"/>
              </a:rPr>
              <a:t>4,347건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450251-268E-4159-8770-57866370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0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공공데이터포털의 공개 CSV 확보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CD9097-CBAF-4B6B-BE62-F7CC26505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95625"/>
            <a:ext cx="5095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건물 조건과 소비량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CCEAD4-251D-4035-83AD-7CC7DEA7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509587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지역 · 건물 용도 · 연면적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사용승인연도 · 지상·지하 층수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3개년 평균 1차 에너지 원단위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24F225-DA5D-4EA8-98F7-18D3D8A8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95625"/>
            <a:ext cx="50196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플랫폼의 활용 방식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9EAFD-B9FC-44E8-A050-FA42FA87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71875"/>
            <a:ext cx="5019675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건물 한 동의 기본정보 불러오기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유사 조건을 반영한 에너지 비교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자료 기간·단위·출처 연결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D227CD-A5D3-4FFF-A915-7B5735A9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292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https://www.data.go.kr/data/3069931/fileData.do</a:t>
            </a:r>
          </a:p>
        </p:txBody>
      </p:sp>
    </p:spTree>
    <p:extLst>
      <p:ext uri="{BB962C8B-B14F-4D97-AF65-F5344CB8AC3E}">
        <p14:creationId xmlns:p14="http://schemas.microsoft.com/office/powerpoint/2010/main" val="11844663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73139B-49D8-493E-AA85-EAD78119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에너지 분석과 LLM 문진을 건물별 기록으로 묶는다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13FD2B-0631-4CF7-A502-FE6537DEF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B9A50-D3B2-4C2F-B2C5-71205D31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4258F-D06B-4F74-87FC-B7160704E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18104D-5DE0-4723-ACCE-90658F98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66850"/>
            <a:ext cx="4619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에너지 분석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83D491-70D6-415A-B302-991C48C3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43100"/>
            <a:ext cx="4619625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건물 특성과 소비량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조건별 회귀·유사 건물 집계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비교 결과와 분석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7AEE84-32DD-4E59-B2B3-E6509AB0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9975"/>
            <a:ext cx="4619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LLM 문진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581EF6-FFA0-4574-A7B6-AF9C0442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86225"/>
            <a:ext cx="4619625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불편 자유문과 후속 응답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필드 추출·맥락에 맞춘 질문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사용자가 확인한 불편 기록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E04CCC-C853-4840-8F07-252E0B2B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381125"/>
            <a:ext cx="19050" cy="401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EE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44511-ED4A-4895-A9A0-D2168419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57325"/>
            <a:ext cx="4953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897D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20897D"/>
                </a:solidFill>
                <a:latin typeface="Noto Sans KR"/>
                <a:ea typeface="Noto Sans KR"/>
                <a:cs typeface="Noto Sans KR"/>
              </a:rPr>
              <a:t>건물 ID를 기준으로 연결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5E8554-405D-4A8A-B120-F1AEF30D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143125"/>
            <a:ext cx="4953000" cy="217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건물 정보와 데이터 출처</a:t>
            </a:r>
          </a:p>
          <a:p xmlns:a="http://schemas.openxmlformats.org/drawingml/2006/main">
            <a:pPr>
              <a:defRPr sz="18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비교 결과와 분석 조건</a:t>
            </a:r>
          </a:p>
          <a:p xmlns:a="http://schemas.openxmlformats.org/drawingml/2006/main">
            <a:pPr>
              <a:defRPr sz="18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불편 원문과 확인된 응답</a:t>
            </a:r>
          </a:p>
          <a:p xmlns:a="http://schemas.openxmlformats.org/drawingml/2006/main">
            <a:pPr>
              <a:defRPr sz="18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개선 후보의 연결 이유</a:t>
            </a:r>
          </a:p>
          <a:p xmlns:a="http://schemas.openxmlformats.org/drawingml/2006/main">
            <a:pPr>
              <a:defRPr sz="18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후보별 현장조사 항목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916DA2-5BE4-412D-812E-8487C254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19650"/>
            <a:ext cx="50482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시설 담당자 확인 후 PDF 요청서 저장</a:t>
            </a:r>
          </a:p>
        </p:txBody>
      </p:sp>
    </p:spTree>
    <p:extLst>
      <p:ext uri="{BB962C8B-B14F-4D97-AF65-F5344CB8AC3E}">
        <p14:creationId xmlns:p14="http://schemas.microsoft.com/office/powerpoint/2010/main" val="20938173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D57E9C-EB65-4F08-88DB-4644A9C8E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AI 기능별 입력·처리·출력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BBD1E-9983-45DD-B94B-EBBEE0FA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0B0855-7A5C-4769-ABD9-47D8886D3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678B34-718C-4DC3-BF98-878AD9B19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762000" y="1362075"/>
          <a:ext xmlns:a="http://schemas.openxmlformats.org/drawingml/2006/main" cx="10648950" cy="3562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76425"/>
                <a:gridCol w="2828925"/>
                <a:gridCol w="2828925"/>
                <a:gridCol w="3114675"/>
              </a:tblGrid>
              <a:tr h="8905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기능</a:t>
                      </a:r>
                    </a:p>
                  </a:txBody>
                  <a:tcPr marL="152400" marR="133350" marT="114300" marB="95250" anchor="ctr">
                    <a:solidFill>
                      <a:srgbClr val="18324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 데이터</a:t>
                      </a:r>
                    </a:p>
                  </a:txBody>
                  <a:tcPr marL="152400" marR="133350" marT="114300" marB="95250" anchor="ctr">
                    <a:solidFill>
                      <a:srgbClr val="18324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처리 방법</a:t>
                      </a:r>
                    </a:p>
                  </a:txBody>
                  <a:tcPr marL="152400" marR="133350" marT="114300" marB="95250" anchor="ctr">
                    <a:solidFill>
                      <a:srgbClr val="18324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제공 결과</a:t>
                      </a:r>
                    </a:p>
                  </a:txBody>
                  <a:tcPr marL="152400" marR="133350" marT="114300" marB="95250" anchor="ctr">
                    <a:solidFill>
                      <a:srgbClr val="18324D"/>
                    </a:solidFill>
                  </a:tcPr>
                </a:tc>
              </a:tr>
              <a:tr h="8905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18324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에너지 비교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지역·용도·면적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연도·층수·소비량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조건별 회귀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유사 건물 집계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조건을 반영한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사용 수준 비교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</a:tr>
              <a:tr h="8905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18324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불편 문진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불편 자유문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후속 질문 응답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LLM 필드 추출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맥락에 맞춘 질문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장소·시간·증상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이용 상황 기록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</a:tr>
              <a:tr h="890588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18324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조사 준비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 결과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확인된 문진 응답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점검 항목 연결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 연결·LLM 요약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개선 후보별 이유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현장조사 요청서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2430C-52B0-45D9-88E1-EA8D686C3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6257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0897D"/>
                </a:solidFill>
                <a:latin typeface="Noto Sans KR"/>
                <a:ea typeface="Noto Sans KR"/>
                <a:cs typeface="Noto Sans KR"/>
              </a:defRPr>
            </a:pPr>
            <a:r>
              <a:rPr sz="2175" b="1">
                <a:solidFill>
                  <a:srgbClr val="20897D"/>
                </a:solidFill>
                <a:latin typeface="Noto Sans KR"/>
                <a:ea typeface="Noto Sans KR"/>
                <a:cs typeface="Noto Sans KR"/>
              </a:rPr>
              <a:t>수치 관계는 회귀 모델로, 생활 속 표현은 LLM으로 처리</a:t>
            </a:r>
          </a:p>
        </p:txBody>
      </p:sp>
    </p:spTree>
    <p:extLst>
      <p:ext uri="{BB962C8B-B14F-4D97-AF65-F5344CB8AC3E}">
        <p14:creationId xmlns:p14="http://schemas.microsoft.com/office/powerpoint/2010/main" val="12146498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58945A-3904-43F2-BFA9-A96B3BB3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개선 후보에 연결 이유와 현장조사 항목을 붙인다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CDFF9D-9A56-4A33-AF04-A2BC8EDA6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6750F-90CF-4866-B811-AD487549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02932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문진 사례: “오후 창가 자리가 덥다”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8A60A-5BE7-41F1-85EB-B53768C9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54BEF6-4A27-4537-AFBD-15E1E9B3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762000" y="1438275"/>
          <a:ext xmlns:a="http://schemas.openxmlformats.org/drawingml/2006/main" cx="1064895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81225"/>
                <a:gridCol w="3590925"/>
                <a:gridCol w="4876800"/>
              </a:tblGrid>
              <a:tr h="8453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점검 후보</a:t>
                      </a:r>
                    </a:p>
                  </a:txBody>
                  <a:tcPr marL="152400" marR="133350" marT="114300" marB="95250" anchor="ctr">
                    <a:solidFill>
                      <a:srgbClr val="18324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문진에서 연결하는 맥락</a:t>
                      </a:r>
                    </a:p>
                  </a:txBody>
                  <a:tcPr marL="152400" marR="133350" marT="114300" marB="95250" anchor="ctr">
                    <a:solidFill>
                      <a:srgbClr val="18324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현장조사 항목</a:t>
                      </a:r>
                    </a:p>
                  </a:txBody>
                  <a:tcPr marL="152400" marR="133350" marT="114300" marB="95250" anchor="ctr">
                    <a:solidFill>
                      <a:srgbClr val="18324D"/>
                    </a:solidFill>
                  </a:tcPr>
                </a:tc>
              </a:tr>
              <a:tr h="8453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18324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차양·일사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오후 · 창가 · 햇빛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창 방향 · 차양 유무 · 일사 유입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</a:tr>
              <a:tr h="8453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18324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창호·외피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창 주변 열감 · 바람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유리 · 프레임 · 기밀 · 단열 상태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</a:tr>
              <a:tr h="845344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18324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환기·냉방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이용시간 · 인원 · 운전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설비 운전시간 · 환기 · 냉방 조건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C0F866-26DE-4212-A89E-4957CDA88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7685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0897D"/>
                </a:solidFill>
                <a:latin typeface="Noto Sans KR"/>
                <a:ea typeface="Noto Sans KR"/>
                <a:cs typeface="Noto Sans KR"/>
              </a:defRPr>
            </a:pPr>
            <a:r>
              <a:rPr sz="2250" b="1">
                <a:solidFill>
                  <a:srgbClr val="20897D"/>
                </a:solidFill>
                <a:latin typeface="Noto Sans KR"/>
                <a:ea typeface="Noto Sans KR"/>
                <a:cs typeface="Noto Sans KR"/>
              </a:rPr>
              <a:t>후보를 고른 이유와 필요한 자료를 함께 전달</a:t>
            </a:r>
          </a:p>
        </p:txBody>
      </p:sp>
    </p:spTree>
    <p:extLst>
      <p:ext uri="{BB962C8B-B14F-4D97-AF65-F5344CB8AC3E}">
        <p14:creationId xmlns:p14="http://schemas.microsoft.com/office/powerpoint/2010/main" val="1835564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27F7F-0340-4F9F-8FA4-9BB9FE54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범용 LLM과 구분되는 건물별 조사 업무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E59D43-5364-48D1-BC18-67ABA7FE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D54D88-754D-4984-B1FC-EC2F56CB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F9EBF8-CEAC-4809-B5A0-58DFB13E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971062-4D52-4A5A-B8B6-79F497B3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47800"/>
            <a:ext cx="5219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건물 데이터가 이어진다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ACE4F7-6AAF-4935-AC21-2E4117253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52197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건물 ID·자료 기간·단위를 유지하고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에너지 비교와 문진 응답을 같은 기록에 저장.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파일을 매번 올리거나 건물 맥락을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다시 설명하는 부담을 줄이는 구조다.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C2E5E-6CBA-4FE8-8F29-F5A811FD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47800"/>
            <a:ext cx="5000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답변 이후의 행동이 이어진다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7A514-78A1-483E-9391-6E45E248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5000625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자유문을 장소·시간·증상으로 정리하고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후속 질문·후보 비교·점검 항목으로 연결.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담당자가 확인한 요청서를 전문가에게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전달할 수 있도록 PDF로 저장한다.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12615B-F276-42A1-8F95-80B29172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19600"/>
            <a:ext cx="10734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0E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656D7A-910B-4A8D-B635-7A736EB5B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8152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건물 선택부터 전문가에게 전달할 결과물까지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DA9100-27C2-4954-B601-0489289F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29200"/>
            <a:ext cx="10287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차별점: 데이터 연결 · 응답 확인 · 근거 추적 · 표준 점검 항목 · 결과물 저장</a:t>
            </a:r>
          </a:p>
        </p:txBody>
      </p:sp>
    </p:spTree>
    <p:extLst>
      <p:ext uri="{BB962C8B-B14F-4D97-AF65-F5344CB8AC3E}">
        <p14:creationId xmlns:p14="http://schemas.microsoft.com/office/powerpoint/2010/main" val="16047782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9B322-9151-448A-8235-850F0B733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분석·문진·요청서의 근거를 연결해 품질을 관리한다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38468F-2A91-468C-B258-3E678911E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BA6EDB-6621-47CD-AE49-DE1E1CE8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2339D-B35E-421C-9CA8-E147330D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4A6CE-6F0E-48EC-9239-171B1E05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90650"/>
            <a:ext cx="5200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데이터와 분석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69A272-1C9F-49F2-A41A-CF3902F9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66900"/>
            <a:ext cx="52006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CSV 필드·단위·보고 누락 검사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건물 그룹을 분리한 회귀 평가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비교군 집계와 모델 결과 대조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7176D4-6F89-4926-9C2C-6A39F0316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390650"/>
            <a:ext cx="5000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문진과 근거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3225D0-4019-426A-A3C5-A784E615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66900"/>
            <a:ext cx="500062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장소·시간·증상 필드 구조화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정리된 응답의 사용자 확인·수정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후보 설명과 원문 응답 연결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58EC5A-6346-4516-A683-BCC49B6F4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5200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처리 흐름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DAA101-A5AF-4735-BE23-251827DB1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52006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필수 항목 검사와 중복 입력 관리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자유문·구조화 입력을 함께 지원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건물별 기록의 저장·수정 이력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99FAB5-7DA4-4E83-AC18-F8025437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524250"/>
            <a:ext cx="5000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조사 요청서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508066-A4D7-47DD-B8EE-A33976E33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500062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건물·비교·문진·후보의 연결 확인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조사에 필요한 자료와 항목 정리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화면 내용과 PDF 결과물 일치 검사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8121A9-63AF-4B7D-9EDB-07DFF3090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10668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0897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20897D"/>
                </a:solidFill>
                <a:latin typeface="Noto Sans KR"/>
                <a:ea typeface="Noto Sans KR"/>
                <a:cs typeface="Noto Sans KR"/>
              </a:rPr>
              <a:t>분석 조건·사용자 응답·후보 이유를 요청서에 함께 남겨 전문가의 판단을 지원한다</a:t>
            </a:r>
          </a:p>
        </p:txBody>
      </p:sp>
    </p:spTree>
    <p:extLst>
      <p:ext uri="{BB962C8B-B14F-4D97-AF65-F5344CB8AC3E}">
        <p14:creationId xmlns:p14="http://schemas.microsoft.com/office/powerpoint/2010/main" val="4867820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33C3E9-0119-47FB-A619-DA175F9E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네 개의 핵심 기술 책임으로 개발을 분담한다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4041A0-6997-4D2D-B21E-54004A75D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F2FADD-6A87-4864-A038-C5370B4F3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D8FD74-E696-4BAB-8BA2-70321464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762000" y="1333500"/>
          <a:ext xmlns:a="http://schemas.openxmlformats.org/drawingml/2006/main" cx="1064895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62200"/>
                <a:gridCol w="4143375"/>
                <a:gridCol w="4143375"/>
              </a:tblGrid>
              <a:tr h="7905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핵심 모듈</a:t>
                      </a:r>
                    </a:p>
                  </a:txBody>
                  <a:tcPr marL="152400" marR="133350" marT="114300" marB="95250" anchor="ctr">
                    <a:solidFill>
                      <a:srgbClr val="18324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주요 기술 책임</a:t>
                      </a:r>
                    </a:p>
                  </a:txBody>
                  <a:tcPr marL="152400" marR="133350" marT="114300" marB="95250" anchor="ctr">
                    <a:solidFill>
                      <a:srgbClr val="18324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연결하는 결과물</a:t>
                      </a:r>
                    </a:p>
                  </a:txBody>
                  <a:tcPr marL="152400" marR="133350" marT="114300" marB="95250" anchor="ctr">
                    <a:solidFill>
                      <a:srgbClr val="18324D"/>
                    </a:solidFill>
                  </a:tcPr>
                </a:tc>
              </a:tr>
              <a:tr h="7905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18324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AI 처리·LLM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문진 제어 · 구조화 추출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맥락 질문 · 근거 요약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가능한 문진 기록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근거에 연결된 설명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18324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웹·문진 UX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반응형 웹 · 응답 구조화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확인·수정 · API 연동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건물 선택·문진·후보 비교 화면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</a:tr>
              <a:tr h="7905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18324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에너지 AI·ETL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데이터 정제 · 조건별 회귀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비교군 집계 · 평가 설계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건물 특성을 반영한 비교 결과</a:t>
                      </a:r>
                    </a:p>
                  </a:txBody>
                  <a:tcPr marL="152400" marR="133350" marT="114300" marB="95250" anchor="ctr"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1">
                          <a:solidFill>
                            <a:srgbClr val="18324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백엔드·통합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건물·응답 DB/API</a:t>
                      </a:r>
                    </a:p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PDF 생성 · 기능 통합 검증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650" b="0">
                          <a:solidFill>
                            <a:srgbClr val="27313D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건물별 기록과 조사 요청서</a:t>
                      </a:r>
                    </a:p>
                  </a:txBody>
                  <a:tcPr marL="152400" marR="133350" marT="114300" marB="95250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40DE00-11DF-4A4F-86B4-0F110100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911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897D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0897D"/>
                </a:solidFill>
                <a:latin typeface="Noto Sans KR"/>
                <a:ea typeface="Noto Sans KR"/>
                <a:cs typeface="Noto Sans KR"/>
              </a:rPr>
              <a:t>웹 화면, Python 분석·LLM, 데이터 저장, PDF 생성을 모듈로 연결</a:t>
            </a:r>
          </a:p>
        </p:txBody>
      </p:sp>
    </p:spTree>
    <p:extLst>
      <p:ext uri="{BB962C8B-B14F-4D97-AF65-F5344CB8AC3E}">
        <p14:creationId xmlns:p14="http://schemas.microsoft.com/office/powerpoint/2010/main" val="14007621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FFAA62-6461-45A1-A8B0-BD82A7F7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시설 담당자·이용자·전문가에게 필요한 정보를 연결한다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8FDC66-4066-40D1-B335-7F0FECA7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44B9C-91CD-4E68-A509-10461FD30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602932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연계 개념: 그린리모델링 창조센터 Greeny · UC Berkeley CBE 이용자 설문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516BE7-CEA8-4840-B922-10671B00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C9F1EC-C008-4F7B-AA6E-D340FD4C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1E9547-6421-423C-BE6A-C07FF29D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09700"/>
            <a:ext cx="52006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시설 담당자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6735B-A754-4326-B939-91823D55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52006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에너지와 불편을 한 기록에서 확인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상담 전에 필요한 자료와 질문 정리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전문가에게 전달할 요청서 작성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8AED18-124A-4F6B-8DEF-6C6E78643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09700"/>
            <a:ext cx="50006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95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이용자와 전문가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34BE03-F9AD-40E3-949F-2062E7BD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85950"/>
            <a:ext cx="5000625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이용자는 생활 속 불편을 간단히 전달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전문가는 위치·시간·상황을 함께 파악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후보별 조사 항목으로 현장 상담 시작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797AEE-B2E3-42A6-A939-3A046210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24350"/>
            <a:ext cx="107346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0E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9CA831-E963-47E4-BD33-10410645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86275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1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기대효과: 정보 누락 감소 · 상담 준비 부담 완화 · 근거 공유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85BCD0-330F-4F4F-BF3E-BFC35BC0F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33950"/>
            <a:ext cx="10287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확장 방향: 여러 건물의 조사 우선순위 · 공사 전후 이용자 체감 관리</a:t>
            </a:r>
          </a:p>
        </p:txBody>
      </p:sp>
    </p:spTree>
    <p:extLst>
      <p:ext uri="{BB962C8B-B14F-4D97-AF65-F5344CB8AC3E}">
        <p14:creationId xmlns:p14="http://schemas.microsoft.com/office/powerpoint/2010/main" val="8786562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D79C51-8310-410E-8592-4221B1816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5275"/>
            <a:ext cx="110871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2700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자료 출처와 AI 도구 활용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94F4D7-A40F-41CC-A78B-A732C316F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38200"/>
            <a:ext cx="781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97D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D77A9F-392D-4715-83A9-9D2FB61A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24625"/>
            <a:ext cx="7620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GreenLoop · AI 플랫폼 아이디어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4C9FD-DC37-4BAE-B52B-8CAAE0176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6524625"/>
            <a:ext cx="333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557DCE-4825-427E-A444-48A2FC5E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04925"/>
            <a:ext cx="10668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국토안전관리원 · 공공건축물 에너지 소비량_20260331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81A95E-8339-4C49-8F33-2A1A582A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https://www.data.go.kr/data/3069931/fileData.do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7DD60-65B7-4BB0-85CD-84BB2858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47900"/>
            <a:ext cx="10668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그린리모델링 창조센터 · Greeny 분석시스템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1E4411-3857-4ED3-A319-1F2D4C95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https://www.greenremodeling.or.kr/greeny_origin/pages/s01_01.asp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621A91-8712-4607-9F18-7266DACC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90875"/>
            <a:ext cx="10668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>
                <a:solidFill>
                  <a:srgbClr val="18324D"/>
                </a:solidFill>
                <a:latin typeface="Noto Sans KR"/>
                <a:ea typeface="Noto Sans KR"/>
                <a:cs typeface="Noto Sans KR"/>
              </a:rPr>
              <a:t>UC Berkeley CBE · Occupant Survey and Building Benchmarking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F17B20-D3B0-4CFE-8082-047AC81A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99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778392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>
                <a:solidFill>
                  <a:srgbClr val="778392"/>
                </a:solidFill>
                <a:latin typeface="Noto Sans KR"/>
                <a:ea typeface="Noto Sans KR"/>
                <a:cs typeface="Noto Sans KR"/>
              </a:rPr>
              <a:t>https://cbe.berkeley.edu/research/occupant-survey-and-building-benchmarking/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7B44DE-E377-4ED1-B833-1F2DFEE6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95775"/>
            <a:ext cx="10648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EE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FC9D54-41DB-40D3-B04B-6300C601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897D"/>
                </a:solidFill>
                <a:latin typeface="Noto Sans KR"/>
                <a:ea typeface="Noto Sans KR"/>
                <a:cs typeface="Noto Sans KR"/>
              </a:defRPr>
            </a:pPr>
            <a:r>
              <a:rPr sz="1875" b="1">
                <a:solidFill>
                  <a:srgbClr val="20897D"/>
                </a:solidFill>
                <a:latin typeface="Noto Sans KR"/>
                <a:ea typeface="Noto Sans KR"/>
                <a:cs typeface="Noto Sans KR"/>
              </a:rPr>
              <a:t>자료 확인: 2026.9.30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168126-87F9-4F4F-A303-44DAB192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106680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OpenAI Codex: 후보 조사·비교, 문안·공식 서식·제출파일 작성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OpenAI 이미지 생성: 표지 일러스트·서비스 흐름도·화면 구성안</a:t>
            </a:r>
          </a:p>
          <a:p xmlns:a="http://schemas.openxmlformats.org/drawingml/2006/main">
            <a:pPr>
              <a:def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>
                <a:solidFill>
                  <a:srgbClr val="27313D"/>
                </a:solidFill>
                <a:latin typeface="Noto Sans KR"/>
                <a:ea typeface="Noto Sans KR"/>
                <a:cs typeface="Noto Sans KR"/>
              </a:rPr>
              <a:t>일러스트와 화면 구성안은 서비스 이용 과정을 설명하는 예시다.</a:t>
            </a:r>
          </a:p>
        </p:txBody>
      </p:sp>
    </p:spTree>
    <p:extLst>
      <p:ext uri="{BB962C8B-B14F-4D97-AF65-F5344CB8AC3E}">
        <p14:creationId xmlns:p14="http://schemas.microsoft.com/office/powerpoint/2010/main" val="11972091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2026-09-30T07:11:42.6110000Z</dcterms:created>
  <dcterms:modified xsi:type="dcterms:W3CDTF">2026-09-30T07:11:42.6110000Z</dcterms:modified>
</coreProperties>
</file>