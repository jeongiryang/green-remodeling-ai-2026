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d7a6637d194d3d" /><Relationship Type="http://schemas.openxmlformats.org/officeDocument/2006/relationships/extended-properties" Target="/docProps/app.xml" Id="R0ebae0b0d48d4ea6" /><Relationship Type="http://schemas.openxmlformats.org/officeDocument/2006/relationships/officeDocument" Target="/ppt/presentation.xml" Id="R6ced29a8f1ea4a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2d663eabf74dcd"/>
  </p:sldMasterIdLst>
  <p:notesMasterIdLst>
    <p:notesMasterId xmlns:r="http://schemas.openxmlformats.org/officeDocument/2006/relationships" r:id="R03a5e416b5d74973"/>
  </p:notesMasterIdLst>
  <p:sldIdLst>
    <p:sldId xmlns:r="http://schemas.openxmlformats.org/officeDocument/2006/relationships" id="256" r:id="R6c2a12478c20434c"/>
    <p:sldId xmlns:r="http://schemas.openxmlformats.org/officeDocument/2006/relationships" id="257" r:id="Re408d02696da4a30"/>
    <p:sldId xmlns:r="http://schemas.openxmlformats.org/officeDocument/2006/relationships" id="258" r:id="Rcd76a634668a41e4"/>
    <p:sldId xmlns:r="http://schemas.openxmlformats.org/officeDocument/2006/relationships" id="259" r:id="R423cb06a853f466a"/>
    <p:sldId xmlns:r="http://schemas.openxmlformats.org/officeDocument/2006/relationships" id="260" r:id="Rc8318ad5a45d474d"/>
    <p:sldId xmlns:r="http://schemas.openxmlformats.org/officeDocument/2006/relationships" id="261" r:id="Reb9bd4fb805b4486"/>
    <p:sldId xmlns:r="http://schemas.openxmlformats.org/officeDocument/2006/relationships" id="262" r:id="R9daefedf93174bdb"/>
    <p:sldId xmlns:r="http://schemas.openxmlformats.org/officeDocument/2006/relationships" id="263" r:id="Rc17ac66fcc084925"/>
    <p:sldId xmlns:r="http://schemas.openxmlformats.org/officeDocument/2006/relationships" id="264" r:id="Ra9ac42c64a5a43ab"/>
    <p:sldId xmlns:r="http://schemas.openxmlformats.org/officeDocument/2006/relationships" id="265" r:id="Rdcc88287e8854704"/>
    <p:sldId xmlns:r="http://schemas.openxmlformats.org/officeDocument/2006/relationships" id="266" r:id="R1f3aa1e4588a46b7"/>
    <p:sldId xmlns:r="http://schemas.openxmlformats.org/officeDocument/2006/relationships" id="267" r:id="Rf6062a4b46a44d10"/>
    <p:sldId xmlns:r="http://schemas.openxmlformats.org/officeDocument/2006/relationships" id="268" r:id="R2c011a2391ca4a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b89eedfe794baa" /><Relationship Type="http://schemas.openxmlformats.org/officeDocument/2006/relationships/slideMaster" Target="/ppt/slideMasters/slideMaster1.xml" Id="Rd32d663eabf74dcd" /><Relationship Type="http://schemas.openxmlformats.org/officeDocument/2006/relationships/notesMaster" Target="/ppt/notesMasters/notesMaster1.xml" Id="R03a5e416b5d74973" /><Relationship Type="http://schemas.openxmlformats.org/officeDocument/2006/relationships/presProps" Target="/ppt/presProps.xml" Id="Rcc957b5784f54aac" /><Relationship Type="http://schemas.openxmlformats.org/officeDocument/2006/relationships/tableStyles" Target="/ppt/tableStyles.xml" Id="R3e7f4c1dc8e64af1" /><Relationship Type="http://schemas.openxmlformats.org/officeDocument/2006/relationships/slide" Target="/ppt/slides/slide1.xml" Id="R6c2a12478c20434c" /><Relationship Type="http://schemas.openxmlformats.org/officeDocument/2006/relationships/slide" Target="/ppt/slides/slide2.xml" Id="Re408d02696da4a30" /><Relationship Type="http://schemas.openxmlformats.org/officeDocument/2006/relationships/slide" Target="/ppt/slides/slide3.xml" Id="Rcd76a634668a41e4" /><Relationship Type="http://schemas.openxmlformats.org/officeDocument/2006/relationships/slide" Target="/ppt/slides/slide4.xml" Id="R423cb06a853f466a" /><Relationship Type="http://schemas.openxmlformats.org/officeDocument/2006/relationships/slide" Target="/ppt/slides/slide5.xml" Id="Rc8318ad5a45d474d" /><Relationship Type="http://schemas.openxmlformats.org/officeDocument/2006/relationships/slide" Target="/ppt/slides/slide6.xml" Id="Reb9bd4fb805b4486" /><Relationship Type="http://schemas.openxmlformats.org/officeDocument/2006/relationships/slide" Target="/ppt/slides/slide7.xml" Id="R9daefedf93174bdb" /><Relationship Type="http://schemas.openxmlformats.org/officeDocument/2006/relationships/slide" Target="/ppt/slides/slide8.xml" Id="Rc17ac66fcc084925" /><Relationship Type="http://schemas.openxmlformats.org/officeDocument/2006/relationships/slide" Target="/ppt/slides/slide9.xml" Id="Ra9ac42c64a5a43ab" /><Relationship Type="http://schemas.openxmlformats.org/officeDocument/2006/relationships/slide" Target="/ppt/slides/slide10.xml" Id="Rdcc88287e8854704" /><Relationship Type="http://schemas.openxmlformats.org/officeDocument/2006/relationships/slide" Target="/ppt/slides/slide11.xml" Id="R1f3aa1e4588a46b7" /><Relationship Type="http://schemas.openxmlformats.org/officeDocument/2006/relationships/slide" Target="/ppt/slides/slide12.xml" Id="Rf6062a4b46a44d10" /><Relationship Type="http://schemas.openxmlformats.org/officeDocument/2006/relationships/slide" Target="/ppt/slides/slide13.xml" Id="R2c011a2391ca4a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e20715553742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43a4ab3d9b409f" /><Relationship Type="http://schemas.openxmlformats.org/officeDocument/2006/relationships/notesMaster" Target="/ppt/notesMasters/notesMaster1.xml" Id="Re73ddc51f6e647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b0071eba464ca1" /><Relationship Type="http://schemas.openxmlformats.org/officeDocument/2006/relationships/notesMaster" Target="/ppt/notesMasters/notesMaster1.xml" Id="Re996f424deca4a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481ccd598f4dcd" /><Relationship Type="http://schemas.openxmlformats.org/officeDocument/2006/relationships/notesMaster" Target="/ppt/notesMasters/notesMaster1.xml" Id="Rc705f7eb8ff94e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9d635fb6b84ca7" /><Relationship Type="http://schemas.openxmlformats.org/officeDocument/2006/relationships/notesMaster" Target="/ppt/notesMasters/notesMaster1.xml" Id="R710476c3634043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739f84b16c4f2b" /><Relationship Type="http://schemas.openxmlformats.org/officeDocument/2006/relationships/notesMaster" Target="/ppt/notesMasters/notesMaster1.xml" Id="R8b42bc959d4b4d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ac41a65b8c4227" /><Relationship Type="http://schemas.openxmlformats.org/officeDocument/2006/relationships/notesMaster" Target="/ppt/notesMasters/notesMaster1.xml" Id="R59e63fa4d5af4c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fa071d849b4f10" /><Relationship Type="http://schemas.openxmlformats.org/officeDocument/2006/relationships/notesMaster" Target="/ppt/notesMasters/notesMaster1.xml" Id="Rf73468b70baa4d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fa4dc4313543ac" /><Relationship Type="http://schemas.openxmlformats.org/officeDocument/2006/relationships/notesMaster" Target="/ppt/notesMasters/notesMaster1.xml" Id="R87b66cae21c44c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046b07525a4df0" /><Relationship Type="http://schemas.openxmlformats.org/officeDocument/2006/relationships/notesMaster" Target="/ppt/notesMasters/notesMaster1.xml" Id="R69fd305ca13b44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4b161533fa4ab8" /><Relationship Type="http://schemas.openxmlformats.org/officeDocument/2006/relationships/notesMaster" Target="/ppt/notesMasters/notesMaster1.xml" Id="Rbd2d15a23df44e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6c0330fd434a01" /><Relationship Type="http://schemas.openxmlformats.org/officeDocument/2006/relationships/notesMaster" Target="/ppt/notesMasters/notesMaster1.xml" Id="R4f281e7cb10e4e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c9bf5cba414cf4" /><Relationship Type="http://schemas.openxmlformats.org/officeDocument/2006/relationships/notesMaster" Target="/ppt/notesMasters/notesMaster1.xml" Id="R38ec4b7d3e5c45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c059501b7e4d3b" /><Relationship Type="http://schemas.openxmlformats.org/officeDocument/2006/relationships/notesMaster" Target="/ppt/notesMasters/notesMaster1.xml" Id="R724d43d58d2044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아이디어 제안. 건물 에너지 비교와 이용자 불편을 연결해 사전 조사 준비를 돕는 서비스 설계.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OpenAI 이미지 생성으로 제작한 서비스 흐름도. 서비스 설계: 건물 선택, 에너지 비교, AI 불편 문진, 개선 후보 비교, 조사 요청서.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2026.9.30 원본 CSV 확보. 4347행, 15열. 3개년 평균 에너지 원단위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OpenAI 이미지 생성으로 제작한 가상 공공도서관 서비스 화면 구성안. 설계를 설명하는 예시이며 실존 도서관 관측값을 사용하지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심사자료 블라인드 기준에 따라 개인 이름을 제외했다. 각 기술 책임의 배정은 신청서와 팀 현황 기록에 반영한다.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https://www.greenremodeling.or.kr/greeny_origin/pages/s01_01.asp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https://www.greenremodeling.or.kr/greeny_origin/pages/s01_01.asp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  <a:p xmlns:a="http://schemas.openxmlformats.org/drawingml/2006/main">
            <a:r>
              <a:t>데이터를 분석 수치로 가공하지 않고 출처·필드·건수와 활용 설계를 명시했다. 생성형 AI 도구와 활용 범위를 공개했다.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32e8694cc4c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3b54c3cf664c79" /><Relationship Type="http://schemas.openxmlformats.org/officeDocument/2006/relationships/slideLayout" Target="/ppt/slideLayouts/slideLayout1.xml" Id="R44a48b0cda094c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a48b0cda094c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d3689e4b445c8" /><Relationship Type="http://schemas.openxmlformats.org/officeDocument/2006/relationships/notesSlide" Target="/ppt/notesSlides/notesSlide1.xml" Id="R9e469ff9b63f48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54438d98d41ab" /><Relationship Type="http://schemas.openxmlformats.org/officeDocument/2006/relationships/notesSlide" Target="/ppt/notesSlides/notesSlide2.xml" Id="Rd61a98d430be47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7edd384b34838" /><Relationship Type="http://schemas.openxmlformats.org/officeDocument/2006/relationships/image" Target="/ppt/media/image.png" Id="R2822bc12c15d47d4" /><Relationship Type="http://schemas.openxmlformats.org/officeDocument/2006/relationships/notesSlide" Target="/ppt/notesSlides/notesSlide3.xml" Id="Ra0fdac0d6d4747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ccaa8e2c040ca" /><Relationship Type="http://schemas.openxmlformats.org/officeDocument/2006/relationships/notesSlide" Target="/ppt/notesSlides/notesSlide4.xml" Id="R7416474c57a440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d01f1f3a14851" /><Relationship Type="http://schemas.openxmlformats.org/officeDocument/2006/relationships/notesSlide" Target="/ppt/notesSlides/notesSlide5.xml" Id="Ra99e21b74f3647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c882e01414cf3" /><Relationship Type="http://schemas.openxmlformats.org/officeDocument/2006/relationships/notesSlide" Target="/ppt/notesSlides/notesSlide6.xml" Id="Ra5395f28137142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b87c2a74d4208" /><Relationship Type="http://schemas.openxmlformats.org/officeDocument/2006/relationships/image" Target="/ppt/media/image2.png" Id="R2a8f40583586483f" /><Relationship Type="http://schemas.openxmlformats.org/officeDocument/2006/relationships/notesSlide" Target="/ppt/notesSlides/notesSlide7.xml" Id="Ra7128679309c41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7207a9120466d" /><Relationship Type="http://schemas.openxmlformats.org/officeDocument/2006/relationships/notesSlide" Target="/ppt/notesSlides/notesSlide8.xml" Id="R97ff5176f00347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f1e439e734686" /><Relationship Type="http://schemas.openxmlformats.org/officeDocument/2006/relationships/notesSlide" Target="/ppt/notesSlides/notesSlide9.xml" Id="R8775306bea3d41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9bd0b685440b7" /><Relationship Type="http://schemas.openxmlformats.org/officeDocument/2006/relationships/notesSlide" Target="/ppt/notesSlides/notesSlide10.xml" Id="R445d50cae9574d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c6d8537db41ba" /><Relationship Type="http://schemas.openxmlformats.org/officeDocument/2006/relationships/notesSlide" Target="/ppt/notesSlides/notesSlide11.xml" Id="R1e63870e834443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fcde151b8461c" /><Relationship Type="http://schemas.openxmlformats.org/officeDocument/2006/relationships/notesSlide" Target="/ppt/notesSlides/notesSlide12.xml" Id="R23000245035f40a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e22c2079b4cef" /><Relationship Type="http://schemas.openxmlformats.org/officeDocument/2006/relationships/notesSlide" Target="/ppt/notesSlides/notesSlide13.xml" Id="R291b1ea39cd741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3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F9A89-A8D9-4C3C-9995-55FF820C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2975"/>
            <a:ext cx="1714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CC9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E2329-279C-4FEB-B408-FA74B3B2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038225"/>
            <a:ext cx="971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8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GreenLoop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0DD87-360A-4D73-9B70-213545CC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5146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DDF3E6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DDF3E6"/>
                </a:solidFill>
                <a:latin typeface="Malgun Gothic"/>
                <a:ea typeface="Malgun Gothic"/>
                <a:cs typeface="Malgun Gothic"/>
              </a:rPr>
              <a:t>에너지와 이용자의 불편을 연결하는</a:t>
            </a:r>
          </a:p>
          <a:p xmlns:a="http://schemas.openxmlformats.org/drawingml/2006/main">
            <a:pPr>
              <a:defRPr sz="2925" b="1">
                <a:solidFill>
                  <a:srgbClr val="DDF3E6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DDF3E6"/>
                </a:solidFill>
                <a:latin typeface="Malgun Gothic"/>
                <a:ea typeface="Malgun Gothic"/>
                <a:cs typeface="Malgun Gothic"/>
              </a:rPr>
              <a:t>노후 공공건축물 AI 사전점검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84A1A-66E8-4F3D-88DF-4AAA52DF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33875"/>
            <a:ext cx="9525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 → 문진 → 현장조사 → 개선 검토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79A8D-1A39-4C99-82E5-74AA41F9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867400"/>
            <a:ext cx="971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F3E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DF3E6"/>
                </a:solidFill>
                <a:latin typeface="Malgun Gothic"/>
                <a:ea typeface="Malgun Gothic"/>
                <a:cs typeface="Malgun Gothic"/>
              </a:rPr>
              <a:t>제6회 그린리모델링 챌린지 · 대학생 해커톤 · AI 플랫폼 아이디어</a:t>
            </a:r>
          </a:p>
        </p:txBody>
      </p:sp>
    </p:spTree>
    <p:extLst>
      <p:ext uri="{BB962C8B-B14F-4D97-AF65-F5344CB8AC3E}">
        <p14:creationId xmlns:p14="http://schemas.microsoft.com/office/powerpoint/2010/main" val="1933099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92A348-D2B5-4FA9-909D-15796B14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2B7CB-586E-42C3-AD1E-D425D89D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흩어진 에너지 자료와 불편을 조사 근거로 연결한다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6AB8E-3970-4888-992A-B7EF389A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4F414-7306-4797-ADF2-E399A026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D4211-2B55-41A2-AE21-C63BD6DA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4BF714-D21C-438F-91E2-C6FA1A01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자료·설문 개념 참고: 국토안전관리원 공공건축물 소비량, UC Berkeley CBE [13쪽]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3BDC3-CB57-47CC-B8AE-ADCFDDD8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14475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건물의 사용 수준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CAB78-BB6A-450C-9E36-20713BDA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5000625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공공건축물 에너지 자료에서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지역·용도·면적·준공 시기를 살펴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유사 조건에 맞춰 소비량을 비교한다.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7EFCC-D38D-4903-A39E-8A62A36E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14475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이용자의 생활 맥락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415F6-B502-4BA8-B010-A212C290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952625"/>
            <a:ext cx="5000625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“창가가 덥다”, “오전에 춥다”처럼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다양한 표현을 장소·시간·증상과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이용 상황으로 구체화한다.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651FE-1702-4724-946C-C1755DAA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05156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FEE34-5597-446C-9189-F2A85B59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133850"/>
            <a:ext cx="99726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담당자에게 필요한 것은 “어디를, 무엇부터 살펴볼지”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DAC48-F9FE-4B0C-AE14-B699709F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752975"/>
            <a:ext cx="98869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두 정보를 한 건물 기록에 묶어 현장 전문가에게 전달할 조사 요청서를 만든다.</a:t>
            </a:r>
          </a:p>
        </p:txBody>
      </p:sp>
    </p:spTree>
    <p:extLst>
      <p:ext uri="{BB962C8B-B14F-4D97-AF65-F5344CB8AC3E}">
        <p14:creationId xmlns:p14="http://schemas.microsoft.com/office/powerpoint/2010/main" val="3076334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E164-4B83-402E-BF9B-9C5234EA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B8E85-39D7-4B4F-B88B-68EE4BAC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선택부터 조사 요청까지 이어지는 다섯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55238-FD2F-4E07-B8E1-3B4145B6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9DEBD-2CDE-4552-B521-8335AE37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FE025-AF1F-4318-A318-0DB9F2E0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2bc12c15d47d4"/>
          <a:stretch xmlns:a="http://schemas.openxmlformats.org/drawingml/2006/main"/>
        </p:blipFill>
        <p:spPr>
          <a:xfrm xmlns:a="http://schemas.openxmlformats.org/drawingml/2006/main">
            <a:off x="723900" y="1352550"/>
            <a:ext cx="10744200" cy="35814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651B66-4779-4B2C-829F-C4F6A29C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1038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앞 단계의 입력과 응답을 다음 단계로 전달해 반복 입력을 줄이는 흐름</a:t>
            </a:r>
          </a:p>
        </p:txBody>
      </p:sp>
    </p:spTree>
    <p:extLst>
      <p:ext uri="{BB962C8B-B14F-4D97-AF65-F5344CB8AC3E}">
        <p14:creationId xmlns:p14="http://schemas.microsoft.com/office/powerpoint/2010/main" val="938714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89877-3761-44AC-ACFD-4A4D7556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D821E-D1F7-4C92-B36A-2C5FE03D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국토안전관리원의 공개 건물 데이터로 시작한다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B9E53-248D-4560-B8A6-57C2D970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34121-78BF-446E-A1B3-B5A5CE7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0C274-9652-43B9-8B4B-4CC31B2E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1641B-1B41-4FAE-A968-B1FBF5CE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출처: 공공데이터포털 「국토안전관리원_공공건축물 에너지 소비량_20260331」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066D2-36AA-4EBC-93A9-57D05EB3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39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공공건축물 4,347건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E3076-D73B-4647-99D6-49903722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1057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공공데이터포털에서 공개한 CSV 자료를 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253C6-D243-4542-932D-A0BE6517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어떤 정보를 활용하나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13FC9-38E2-404E-B2CC-ED7FB568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71875"/>
            <a:ext cx="50958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지역 · 건물 용도 · 연면적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사용승인연도 · 지상·지하 층수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3개년 평균 1차 에너지 소비량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D4A67-6DC3-4C53-8452-2912E0EE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어떻게 서비스에 연결하나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EFA14-823A-4518-986A-AB9F332A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71875"/>
            <a:ext cx="50958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한 동의 기본정보 불러오기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비슷한 조건을 반영한 에너지 비교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보고 누락·단위·출처를 함께 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63987-690F-4E29-81EB-3024E63A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05425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https://www.data.go.kr/data/3069931/fileData.do</a:t>
            </a:r>
          </a:p>
        </p:txBody>
      </p:sp>
    </p:spTree>
    <p:extLst>
      <p:ext uri="{BB962C8B-B14F-4D97-AF65-F5344CB8AC3E}">
        <p14:creationId xmlns:p14="http://schemas.microsoft.com/office/powerpoint/2010/main" val="21288605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5E004-9886-4A4F-82FC-B2273FCE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8F75C-45E0-431A-AFB9-C5D9CBCA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에너지 분석과 문진 AI를 한 건물 기록에 연결한다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0EDA4-DF52-40EB-8F14-5F3B948D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E807B-CA06-4A57-98E5-36989988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0C9CF-4BDA-4ED6-A504-2C109191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0B66B-A0B5-44D1-856A-12E12017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4619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23A82-AF89-4B93-BB04-4D699497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4162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에너지 분석 모듈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431B39-9F37-46F1-BDF3-D62E02E6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47875"/>
            <a:ext cx="4162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특성 → 조건별 회귀·비교군 집계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출력: 비교 결과·조건·자료 품질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D954FF-501C-4FD2-8630-E1F0DB1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1962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5EBD5-0639-4C98-80C7-71E1FAA7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4162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LLM 문진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63B75-C479-4B7A-922B-B77DBBC6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1624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불편 자유문 → 필드 추출·맥락 질문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출력: 확인한 응답·원문·불편 위치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73406-39D8-4F2F-8324-F68D6FB3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400300"/>
            <a:ext cx="8096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FA245-662B-4405-8241-605E110C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695450"/>
            <a:ext cx="46101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0F29F-06D3-4E51-B01D-D37CCAD2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76425"/>
            <a:ext cx="4133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건물별 기록 → 현장조사 요청서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AA7717-0F20-4C89-B802-3A943370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86050"/>
            <a:ext cx="41338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정보   특성·자료 출처·분석 조건</a:t>
            </a:r>
          </a:p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불편 기록   장소·시간·증상·이용 상황</a:t>
            </a:r>
          </a:p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개선 후보   연결 이유와 점검 항목</a:t>
            </a:r>
          </a:p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조사 요청   담당자 확인·PDF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B2FB2-D7B6-4300-8B31-3BF62E77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48275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같은 건물 ID를 기준으로 데이터·응답·후보·요청서를 묶어 근거를 이어간다.</a:t>
            </a:r>
          </a:p>
        </p:txBody>
      </p:sp>
    </p:spTree>
    <p:extLst>
      <p:ext uri="{BB962C8B-B14F-4D97-AF65-F5344CB8AC3E}">
        <p14:creationId xmlns:p14="http://schemas.microsoft.com/office/powerpoint/2010/main" val="3157260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12ED8-4BD9-4473-9C32-5141FF46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291F-3324-4472-A7F8-FE90E019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회귀 모델과 LLM이 서로 다른 문제를 맡는다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2C0D4-CFBD-4A7E-94C8-730B5F63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372E5-9BA3-4A17-A453-EA7B1A3A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339F2-49C8-4BE9-B283-5F2BA4BF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55145-A525-4D03-9867-61FACF91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573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에너지 비교 · 표형 회귀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4FBD2-C6F9-495F-ACC0-20FA02C4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95475"/>
            <a:ext cx="504825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입력: 지역·용도·면적·연도·층수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처리: 조건 관계 학습·비교군 집계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출력: 건물 특성을 반영한 사용 수준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품질 관리: 보고 누락·단위·비교 조건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BA644-A918-4F4B-9509-6913B953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불편 문진 · 사전학습 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79C65B-D90E-4CD5-8ABD-AA8EA171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143500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입력: 불편 자유문·후속 응답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처리: 구조화 추출·맥락 질문·근거 요약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출력: 불편 기록·추가 질문·요청서 초안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품질 관리: 원문 연결·응답 확인·필수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CE461-BDE1-4EC3-899D-B2652455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105727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6A172A-ECE2-437B-AAF8-4D83E253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053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수치 분석은 모델로, 생활 속 표현은 LLM으로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8A367-0939-48D1-92E9-E8D9E8F6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10125"/>
            <a:ext cx="9963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정해진 필드와 점검 규칙을 연결해 담당자가 활용할 수 있는 건물별 기록을 구성한다.</a:t>
            </a:r>
          </a:p>
        </p:txBody>
      </p:sp>
    </p:spTree>
    <p:extLst>
      <p:ext uri="{BB962C8B-B14F-4D97-AF65-F5344CB8AC3E}">
        <p14:creationId xmlns:p14="http://schemas.microsoft.com/office/powerpoint/2010/main" val="20655547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81240-C057-4BB5-A80D-F8FD0C1E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4DD40-EEA4-41AA-86B5-AB843CB5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화면 구성안 · 불편에서 개선 후보로 이어지는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E53E5-5E98-4591-A958-D7117323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E62B0-0DF6-41E2-9249-39860132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5CE7D-EBB0-4505-BF3D-1CD86A78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4EA20-5AB3-4DC8-BDD5-D7E9F7AC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서비스 화면 구성안 | 공공도서관의 오후 창가 더위 사례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f40583586483f"/>
          <a:stretch xmlns:a="http://schemas.openxmlformats.org/drawingml/2006/main"/>
        </p:blipFill>
        <p:spPr>
          <a:xfrm xmlns:a="http://schemas.openxmlformats.org/drawingml/2006/main">
            <a:off x="742950" y="1352849"/>
            <a:ext cx="7953375" cy="447615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D6D48-FF1B-43B6-9DC0-83B13ED8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5621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이용자 표현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CD9E7-C186-44B8-9DFF-3C9E039A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00250"/>
            <a:ext cx="2286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“오후에 창가 자리가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너무 더워요.”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B3647-027D-4F9F-86A8-B766981B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2194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조사 항목으로 연결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0181B-B354-4B71-9015-A6B735C5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657600"/>
            <a:ext cx="2286000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차양·일사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창호·외피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환기·냉방</a:t>
            </a:r>
          </a:p>
        </p:txBody>
      </p:sp>
    </p:spTree>
    <p:extLst>
      <p:ext uri="{BB962C8B-B14F-4D97-AF65-F5344CB8AC3E}">
        <p14:creationId xmlns:p14="http://schemas.microsoft.com/office/powerpoint/2010/main" val="7280546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D0DFAD-CD74-407F-90B2-29F17587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749BD-EEB3-47AE-9310-4D9ADBBD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개선 후보에는 연결 이유와 조사 항목이 함께 붙는다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A4A52-19C9-4735-A9C4-0834B050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A4B36-A741-4531-A2AA-A8148CC4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794A4-9B62-409A-ABD2-9AA58800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C12F2-88CD-42E6-91E4-B63E0AA8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문진 사례: “오후 창가 자리가 덥다” → 후보별로 살펴볼 내용을 비교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6A4B9-570E-48DE-A294-92522D86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24479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E6F40-6041-42DF-974E-C9BE0714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214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점검 후보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BE03B-56B5-45C3-B99C-0FAF8A0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476375"/>
            <a:ext cx="37052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FE86D-05BE-4A13-81B1-1C652D70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19250"/>
            <a:ext cx="3400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연결하는 맥락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5D06B-5792-4309-93BE-E8D61C1B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76375"/>
            <a:ext cx="4400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76D6F-FC8A-4D79-87EF-009D168A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19250"/>
            <a:ext cx="4095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현장조사 항목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E81AA-3B56-441D-9BFD-7CD64644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28825"/>
            <a:ext cx="24479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59D8D4-B8C3-4366-A60D-D23C9093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9325"/>
            <a:ext cx="21431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차양·일사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BB4C2-B942-4D6E-8FC1-C17BDD09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28825"/>
            <a:ext cx="37052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48034-7D70-4288-8728-6DF60F5F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219325"/>
            <a:ext cx="3400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오후 · 창가 · 햇빛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8C358A-82C0-48B6-8593-315892D8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28825"/>
            <a:ext cx="44005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BA757-B6FA-4513-8672-B351983F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19325"/>
            <a:ext cx="4095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창 방향·차양 유무·일사 유입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9B5AFD-008B-4B92-A785-44F4A0E0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4479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A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2E2E2A-192F-43CD-9F69-C483DCB2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21431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창호·외피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F61B21-48F7-4FE5-8144-04A4C196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009900"/>
            <a:ext cx="37052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A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6DEE6A-8D35-45B9-95E4-7BF047B7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200400"/>
            <a:ext cx="3400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창 주변 열감 · 바람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DD90C-C530-49CF-8F92-0BE6E8CB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44005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A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0AE0E6-2D04-425A-995F-8D4F5E2B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00400"/>
            <a:ext cx="4095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유리·프레임·기밀·단열 상태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009F4E-3A86-48C9-BAC3-491D96C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24479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0F770-E40C-4B7D-B169-65E2979A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81475"/>
            <a:ext cx="21431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환기·냉방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FC3D32-2BB3-4E3D-8836-DD6C5417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990975"/>
            <a:ext cx="37052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C3D3DC-7D51-4BE4-84AC-6215E3F4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181475"/>
            <a:ext cx="3400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이용시간 · 인원 · 운전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1B7204-A0B3-4DA1-99D6-6B900679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90975"/>
            <a:ext cx="44005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2DED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FEF13F-7E52-4171-BA05-EF1FD75F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81475"/>
            <a:ext cx="4095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설비 운전시간·환기·냉방 조건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F19DB4-42EC-4D4A-8E1C-668323F1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29225"/>
            <a:ext cx="10429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후보를 고르는 이유와 필요한 자료를 함께 전달해 전문가 상담의 출발점을 구체화한다.</a:t>
            </a:r>
          </a:p>
        </p:txBody>
      </p:sp>
    </p:spTree>
    <p:extLst>
      <p:ext uri="{BB962C8B-B14F-4D97-AF65-F5344CB8AC3E}">
        <p14:creationId xmlns:p14="http://schemas.microsoft.com/office/powerpoint/2010/main" val="20779505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68B65-1ECA-4625-A42B-536BEEFD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6CD8C-EEE6-4865-A25B-D3F6CE81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범용 LLM과의 차이는 건물별 조사 업무를 연결하는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4DF3F-6B09-4475-9268-9C4844C9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8134D-6A15-4856-8657-8E1F33A7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B21E4-0A94-4B0E-8B39-E3DDBD0B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036D9-67C2-466A-B868-EEF1EB93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5732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건물 데이터가 이어진다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6FAB3-FD1B-42D8-80FF-727D816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95475"/>
            <a:ext cx="50673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ID·자료 기간·단위를 유지하고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에너지 비교와 문진 응답을 같은 기록에 저장.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파일을 매번 올리거나 맥락을 다시 설명하는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부담을 줄이는 서비스 구조다.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A37A1-D32D-48D2-B668-AE0B6819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5732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답변 이후의 행동이 이어진다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B11A1-347F-4717-876A-EB0FB2A3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95475"/>
            <a:ext cx="50673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자유문을 장소·시간·증상으로 정리하고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필요한 질문 → 후보 비교 → 점검 항목으로 연결.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담당자가 확인한 요청서를 전문가에게 전달할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수 있도록 PDF로 저장한다.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43F57-AC3A-4E1F-B61A-DE7BF983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105346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A74CC-AD1A-4DD4-ACDA-2913FA87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1009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“대화를 잘하는 AI”에서 “조사 준비를 이어주는 서비스”로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2EAFA-4C66-462C-AF1D-1F0ECBD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00625"/>
            <a:ext cx="100107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차별점: 데이터 연결 · 응답 확인 · 근거 추적 · 표준 점검 항목 · 결과물 저장</a:t>
            </a:r>
          </a:p>
        </p:txBody>
      </p:sp>
    </p:spTree>
    <p:extLst>
      <p:ext uri="{BB962C8B-B14F-4D97-AF65-F5344CB8AC3E}">
        <p14:creationId xmlns:p14="http://schemas.microsoft.com/office/powerpoint/2010/main" val="14447869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EF894-2DFC-4980-B88A-72EBAB0C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8D663-8A81-4197-ABF5-005605D0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자료·응답·결과물을 연결하는 품질 관리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FB7BB-44FC-42F9-8C52-EA5CA38F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0264E-3CC7-4FD5-94BD-88969F38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13E6A-5521-4E1D-9E6C-B754B1C9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14B5EA-AA42-4A3B-A468-02EC8A11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데이터와 분석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DDC06-D9A1-4A81-93C7-62BD068A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50673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CSV 필드·단위·보고 누락 검사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 그룹을 분리한 회귀 평가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비교군 집계와 모델 결과 대조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1B9CF-D495-472F-9CF3-7D459EE2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8112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문진과 근거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4954-DF5D-407B-A310-1DC1823F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19275"/>
            <a:ext cx="50673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장소·시간·증상 필드 구조화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정리된 응답의 사용자 확인·수정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후보 설명과 원문 응답 연결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85C42-2DD8-4BA3-AB25-4EAF52DF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3377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60925-9554-48F1-9911-4F28F820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71925"/>
            <a:ext cx="50673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필수 항목 검사와 중복 입력 관리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자유문·구조화 입력을 함께 지원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건물별 기록의 저장·수정 이력 관리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453B0C-0ED2-4F8A-8429-29E2B3AD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33775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조사 요청서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975AC-E63A-4642-BDC2-00EFFAAF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71925"/>
            <a:ext cx="50673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건물·비교·문진·후보의 연결 확인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누락된 정보는 필요한 자료로 표시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화면 내용과 PDF 결과물 일치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EBE3D0-5B85-4DCA-ADA4-C4668CB7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76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분석 결과를 원인 판정이나 절감 수치로 바꾸는 대신, 근거와 조사 항목으로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20777668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60CDE2-C202-4B7C-B799-DA9E7FCC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86DCC-AE36-42FE-A123-CF984A7A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네 개의 핵심 기술 책임으로 개발을 분담한다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78426-F6A7-4B7B-8189-878CA1AC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01F7E-74B0-47E2-9E73-B5C860D5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B06F4-5A7D-4322-8585-2B35B5A8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ED2B3-CF64-4C40-9AC9-3DE10ECA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25336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C3466-1170-4A31-BA94-BB083063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7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177FB9-7465-4A8D-B0F5-0BAD41F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AI 처리·LLM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37F9D-71B2-4FD5-83E3-3AF571C2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7475"/>
            <a:ext cx="2190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문진 오케스트레이션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구조화 추출·맥락 질문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근거 요약·생성 제어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5E61A3-ABDF-4C65-9DD3-4D575D77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476375"/>
            <a:ext cx="25336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A87F0-CF17-48F2-A2D9-6D98AC91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47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B8C79-4C02-4C1E-BCED-137C42E1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웹·문진 UX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FE519-7ED5-4D31-9FBA-165D991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57475"/>
            <a:ext cx="2190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반응형 웹 인터페이스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응답 데이터 구조화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확인·수정 흐름 개발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D46262-A59F-4253-BD8D-D715BC91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476375"/>
            <a:ext cx="25336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2BC1C-C619-4E89-8FE8-5985CDE7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47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C2FD8-FAB4-45C3-B704-BD55982B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57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에너지 AI·ETL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7328D-E6DC-4F37-9F8E-367167FA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57475"/>
            <a:ext cx="2190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공개 데이터 정제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조건별 회귀모델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비교군·평가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72F6D-41A0-4138-9442-6AC204DB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25336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BC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C2DD4-2D1F-4CD6-A9CE-6836BFEA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647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7EB15-F703-43BA-82C0-19267B16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57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백엔드·통합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1C1EE1-95FD-442C-B88E-AB4D7C56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57475"/>
            <a:ext cx="2190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건물·응답 DB/API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PDF 요청서 생성</a:t>
            </a:r>
          </a:p>
          <a:p xmlns:a="http://schemas.openxmlformats.org/drawingml/2006/main">
            <a:pPr>
              <a:def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기능 연결·통합 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BB513-288D-41C7-AA34-8B449E24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웹 화면 ↔ Python 분석·LLM 처리 ↔ 건물·응답 저장 ↔ 조사 요청서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2E02E6-6FFC-4E8F-BB3D-1EAC2246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분석·문진·저장·출력을 모듈로 분리해 기능별 개발과 통합을 진행하는 구성</a:t>
            </a:r>
          </a:p>
        </p:txBody>
      </p:sp>
    </p:spTree>
    <p:extLst>
      <p:ext uri="{BB962C8B-B14F-4D97-AF65-F5344CB8AC3E}">
        <p14:creationId xmlns:p14="http://schemas.microsoft.com/office/powerpoint/2010/main" val="7737633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A7B8D-37A1-4EFF-822A-E19D3C54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ED229-17B7-4B04-831C-31FE7F49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조사 준비의 부담을 줄이고 리모델링 검토를 구체화한다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143A5-C7D6-42CD-ABDD-58248622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97DAF-69D6-4ED1-BE2A-EB5CA075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9DA61-AA02-43FD-85E3-EDA2228E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5F38E-9316-42D4-BCF2-19DC84B0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연계 개념: Greeny 상세 성능분석 · UC Berkeley CBE 이용자 설문 [13쪽]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D5F58-C738-4134-B975-896AECA2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38275"/>
            <a:ext cx="5076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시설 담당자에게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0D6A6-4C19-4681-9E9E-B9F2C23C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76425"/>
            <a:ext cx="50768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에너지와 불편을 한 기록에서 확인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상담 전에 필요한 자료와 질문 정리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전문가에게 전달할 요청서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F33D2C-9B1C-468F-BB7B-9FD34584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38275"/>
            <a:ext cx="5076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이용자와 전문가에게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32CDB-2A2A-4CCB-95CC-4DFBC3A8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50768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이용자는 생활 속 불편을 간단히 전달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전문가는 위치·시간·상황을 함께 파악</a:t>
            </a:r>
          </a:p>
          <a:p xmlns:a="http://schemas.openxmlformats.org/drawingml/2006/main">
            <a:pPr>
              <a:def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후보별 조사 항목으로 현장 상담 시작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D0D0F-FB9F-4192-8E52-85A6E6A9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05441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1E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45D1F-846C-4544-810E-88EBCC3A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095750"/>
            <a:ext cx="1009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기대효과: 정보 누락 감소 · 상담 준비 부담 완화 · 근거 공유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8C805-DD0C-4AA5-A654-651F5F46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724400"/>
            <a:ext cx="10020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확장 방향: 여러 건물의 조사 우선순위 · 공사 전후 이용자 체감 관리</a:t>
            </a:r>
          </a:p>
          <a:p xmlns:a="http://schemas.openxmlformats.org/drawingml/2006/main">
            <a:pPr>
              <a:def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공공시설 한 동의 흐름을 여러 시설의 관리 업무로 넓히는 서비스 구조</a:t>
            </a:r>
          </a:p>
        </p:txBody>
      </p:sp>
    </p:spTree>
    <p:extLst>
      <p:ext uri="{BB962C8B-B14F-4D97-AF65-F5344CB8AC3E}">
        <p14:creationId xmlns:p14="http://schemas.microsoft.com/office/powerpoint/2010/main" val="5778296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8BC6C-B242-4B9F-8DB1-857B840F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"/>
            <a:ext cx="114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745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0BE65-0FFE-4342-9109-6E68191D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자료 출처와 AI 도구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DD8CB-9A79-47C1-884D-EAA3D2EC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D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D81FDE-A391-4B53-A8A9-A2F51232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58F3A-1B8F-4BC8-AAF7-824049A0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8B342-55DF-4DD5-A6D0-D0D8D7C5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국토안전관리원 · 공공건축물 에너지 소비량_20260331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23002-4209-4C12-8288-F77E1D09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https://www.data.go.kr/data/3069931/fileData.do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E127-ADBA-4E18-9658-90155516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그린리모델링 창조센터 · Greeny 분석시스템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A7B7C-3056-4F78-A872-068C7BD9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https://www.greenremodeling.or.kr/greeny_origin/pages/s01_01.asp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F6C50-527B-4488-886F-5B05DA84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432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UC Berkeley CBE · Occupant Survey and Building Benchmarking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737FBC-2E08-4B7F-8F78-B85DEBE7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E6157"/>
                </a:solidFill>
                <a:latin typeface="Malgun Gothic"/>
                <a:ea typeface="Malgun Gothic"/>
                <a:cs typeface="Malgun Gothic"/>
              </a:rPr>
              <a:t>https://cbe.berkeley.edu/research/occupant-survey-and-building-benchmarking/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2EA11-EE1A-45B6-B127-E7F65D46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48175"/>
            <a:ext cx="10525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AC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ED9D6-4510-4C2D-8832-8DE2DF0E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863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27452"/>
                </a:solidFill>
                <a:latin typeface="Malgun Gothic"/>
                <a:ea typeface="Malgun Gothic"/>
                <a:cs typeface="Malgun Gothic"/>
              </a:rPr>
              <a:t>자료 확인: 2026.9.30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6908A-A4C8-4B36-BD63-E4376D37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OpenAI Codex: 후보 조사·비교, 문안·공식 서식·제출파일 작성</a:t>
            </a:r>
          </a:p>
          <a:p xmlns:a="http://schemas.openxmlformats.org/drawingml/2006/main">
            <a:pPr>
              <a:def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OpenAI 이미지 생성: 서비스 흐름도·화면 구성안 제작</a:t>
            </a:r>
          </a:p>
          <a:p xmlns:a="http://schemas.openxmlformats.org/drawingml/2006/main">
            <a:pPr>
              <a:def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83329"/>
                </a:solidFill>
                <a:latin typeface="Malgun Gothic"/>
                <a:ea typeface="Malgun Gothic"/>
                <a:cs typeface="Malgun Gothic"/>
              </a:rPr>
              <a:t>화면 구성안은 서비스 이용 과정을 설명하는 예시다.</a:t>
            </a:r>
          </a:p>
        </p:txBody>
      </p:sp>
    </p:spTree>
    <p:extLst>
      <p:ext uri="{BB962C8B-B14F-4D97-AF65-F5344CB8AC3E}">
        <p14:creationId xmlns:p14="http://schemas.microsoft.com/office/powerpoint/2010/main" val="15821666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2026-09-30T06:16:06.8970000Z</dcterms:created>
  <dcterms:modified xsi:type="dcterms:W3CDTF">2026-09-30T06:16:06.8970000Z</dcterms:modified>
</coreProperties>
</file>